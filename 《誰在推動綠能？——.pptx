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57" r:id="rId11"/>
    <p:sldId id="258" r:id="rId12"/>
    <p:sldId id="259" r:id="rId13"/>
    <p:sldId id="260" r:id="rId14"/>
    <p:sldId id="261" r:id="rId15"/>
    <p:sldId id="270" r:id="rId16"/>
    <p:sldId id="271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D847A2-6A30-83D3-5FB3-596088F11A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99FBEE2-5E8A-BFE5-2875-31020C7A4D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35339A-7B49-3065-8A0D-69C28AD5D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11A8CF-6D06-9E93-F00C-9ECC603E9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83AE36-685C-A09B-1111-165D9701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516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4C5530-1288-080F-E734-B47F3B16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32C784-577A-9216-B440-6B0928FD3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DA01D2-CC9F-093E-60EE-0291EF349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D1FD50-3CF5-FA88-85E7-F7A3827CE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8ACB85-E5FC-D063-7E6E-7472301C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8842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B7A049-A382-4414-9BDD-8161E075A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9F2D25A-AA92-F33B-879E-43E36CB1C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7DAEEFE-81AA-DD3D-1CFC-488D770C1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7E30D0-4C2B-F0AB-15B2-B67C5F434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E95C55-6C3F-1802-FE25-FA66CF7B2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601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F887A-ACBB-54C8-D52D-FA3B0CCA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3DEC41-FC59-4793-2765-6371AA7AC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D4BC6AD-AF65-064D-C38A-8729DFB15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1CA9F71-5D6A-E1F3-DF33-C9F9DE64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F2C0EB2-C91E-A06A-1BC8-E0CC4FBBD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7F8C0C-9F07-7A6B-354D-4AEF434F2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560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9DB5B-DDD5-F0AE-04F4-31EFEDA27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918752-D81A-6333-E32F-DBBBF14B1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00D4433-C3E7-01B0-C837-EA6A243A6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AFD8956-B41A-986B-39E3-49345DB49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59ADD68-21CB-F842-A253-FD850E34B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9BAB05-51B2-47A4-E7E9-D2161791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199A803-1E99-3EF8-F460-CEA093A7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A59A1BB-E65F-F002-E178-882362403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52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FBACB0-6AF7-D58A-ADF9-E57361AE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E21BD64-0573-D39C-8176-F71A8A09A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F3300F8-8BD1-6E91-BCCB-27A991D2D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A6D904-2A59-9046-0C6B-0A1A49A8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5044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5C152D7-C7FA-D033-F652-173A5023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B829E9-AE37-BDF4-4D25-0E3A8A1C0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BF6BCD-C0A9-F2F2-73F8-DB3EC5AD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037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FF82CD-36F1-B040-7FF6-798F545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B6140A-C08C-E02A-8126-542802FED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8455F1-2B65-4B69-8D9B-7E945F39C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E288A-34DE-7A7E-C227-72274CDE7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D3F896-A555-D631-63B3-B7F39848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6CA70B-74CA-6981-7B9E-F367E2E3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4007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454614-D402-6690-74A6-13DE4B1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4756C04-053D-BFD9-8E98-3CD7805759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A36813-B9BB-F854-392A-9D12FE1BA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8CFA7C-B0D5-895E-4BD6-4A913241D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7AEECF7-BA55-2C9C-6EDA-AE390BC9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6E0DAA-633D-90A3-6C6A-0588FDDB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410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221C65-E5C3-B9F9-1EAA-EFCC5C74F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859621F-C77E-E907-57F7-922A85144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6245EF-4842-9F78-8A45-C106CD154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B5EA7CA-9FA9-47ED-376A-B478A55F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185F16-48FB-76C5-3D15-95BA4742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5899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37E85CC-3CA7-EC11-9A0C-CF9EF068D4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547FF4-28D0-83D4-752D-EECE142A2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677406-96AA-1F5E-D6F4-17121A5F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A89922-4AE6-B8C1-9C44-A8C5F3E9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62836E-A23B-60A6-7A4D-A069A5BB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727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0B9139F-DFC8-7EE1-E272-81DC86CF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09A8875-955B-6A7F-EDFC-F4C7A65B1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8CEC40-3292-3F32-4735-DB34B9E12E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0EF91-A124-4443-A6AC-125C7A94C0BC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7C9458-7BA2-B1F5-45DF-C969E6DEF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79973C-7629-C151-53E7-C87ADB918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099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BFE5D5-46B3-5E58-3D71-7736B78C41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《</a:t>
            </a:r>
            <a:r>
              <a:rPr lang="zh-TW" altLang="en-US" dirty="0"/>
              <a:t>誰在推動綠能？</a:t>
            </a:r>
            <a:r>
              <a:rPr lang="en-US" altLang="zh-TW" dirty="0"/>
              <a:t>——</a:t>
            </a:r>
            <a:r>
              <a:rPr lang="zh-TW" altLang="en-US" dirty="0"/>
              <a:t>基於 </a:t>
            </a:r>
            <a:r>
              <a:rPr lang="en-US" altLang="zh-TW" dirty="0"/>
              <a:t>Power BI </a:t>
            </a:r>
            <a:r>
              <a:rPr lang="zh-TW" altLang="en-US" dirty="0"/>
              <a:t>之台灣潔淨能源滲透率與經營主體動能研究</a:t>
            </a:r>
            <a:r>
              <a:rPr lang="en-US" altLang="zh-TW" dirty="0"/>
              <a:t>》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F552F0-88A9-0E9F-1158-B193987EEB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128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69685D-B218-FE4E-3523-F1F3353AC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專案工時評估表 </a:t>
            </a:r>
            <a:r>
              <a:rPr lang="en-US" altLang="zh-TW" dirty="0"/>
              <a:t>(Project Man-Hours)</a:t>
            </a:r>
            <a:endParaRPr lang="zh-TW" altLang="en-US" dirty="0"/>
          </a:p>
        </p:txBody>
      </p:sp>
      <p:graphicFrame>
        <p:nvGraphicFramePr>
          <p:cNvPr id="8" name="內容版面配置區 7">
            <a:extLst>
              <a:ext uri="{FF2B5EF4-FFF2-40B4-BE49-F238E27FC236}">
                <a16:creationId xmlns:a16="http://schemas.microsoft.com/office/drawing/2014/main" id="{66F13BDA-5B8A-0FEE-66EB-D309EB76703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89838" y="1825625"/>
          <a:ext cx="10212324" cy="4351339"/>
        </p:xfrm>
        <a:graphic>
          <a:graphicData uri="http://schemas.openxmlformats.org/drawingml/2006/table">
            <a:tbl>
              <a:tblPr/>
              <a:tblGrid>
                <a:gridCol w="3404108">
                  <a:extLst>
                    <a:ext uri="{9D8B030D-6E8A-4147-A177-3AD203B41FA5}">
                      <a16:colId xmlns:a16="http://schemas.microsoft.com/office/drawing/2014/main" val="2632568451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2655087408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3750760545"/>
                    </a:ext>
                  </a:extLst>
                </a:gridCol>
              </a:tblGrid>
              <a:tr h="35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階段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預估工時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關鍵任務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8555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1.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需求定義與環境建置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4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定義「潔淨能源」口徑、匯入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2007-2026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原始數據。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952407"/>
                  </a:ext>
                </a:extLst>
              </a:tr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2. ETL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資料清洗與架構重塑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12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最耗時階段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。包含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Unpivot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、拆分維度、處理核能兩層級邏輯、雜訊過濾。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223393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3. DAX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建模與邏輯校正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撰寫「潔淨能源佔比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%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」、「同環比成長率」等動態計算公式。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8760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4.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視覺化儀表板設計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建立趨勢面積圖、主體對比圖、切片器互動邏輯。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512248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5.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簡報產出與洞察總結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ETL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技術紀錄、提煉數據發現、製作最終簡報。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239929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總計 </a:t>
                      </a:r>
                      <a:r>
                        <a:rPr lang="en-US" altLang="zh-TW" sz="1700" b="1"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700" b="1">
                          <a:effectLst/>
                          <a:latin typeface="Google Sans Text"/>
                        </a:rPr>
                        <a:t>Total)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>
                          <a:effectLst/>
                          <a:latin typeface="Google Sans Text"/>
                        </a:rPr>
                        <a:t>40 hrs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 dirty="0">
                          <a:effectLst/>
                          <a:latin typeface="Google Sans Text"/>
                        </a:rPr>
                        <a:t>相當於一位資料分析師一整週的工作量。</a:t>
                      </a:r>
                      <a:endParaRPr lang="zh-TW" altLang="en-US" sz="1700" dirty="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068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654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DACC78-CBB2-3787-B823-291F8241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7A3E59-3BB9-EEA8-50DA-96752D7E2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專題定名與目標設定 </a:t>
            </a:r>
            <a:r>
              <a:rPr lang="en-US" altLang="zh-TW" b="1" dirty="0"/>
              <a:t>(Project Initiation)</a:t>
            </a:r>
          </a:p>
          <a:p>
            <a:r>
              <a:rPr lang="zh-TW" altLang="en-US" b="1" dirty="0"/>
              <a:t>核心指標定義：</a:t>
            </a:r>
            <a:r>
              <a:rPr lang="zh-TW" altLang="en-US" dirty="0"/>
              <a:t> 確立「潔淨能源佔比 </a:t>
            </a:r>
            <a:r>
              <a:rPr lang="en-US" altLang="zh-TW" dirty="0"/>
              <a:t>(%)</a:t>
            </a:r>
            <a:r>
              <a:rPr lang="zh-TW" altLang="en-US" dirty="0"/>
              <a:t>」為衡量基準。</a:t>
            </a:r>
          </a:p>
          <a:p>
            <a:r>
              <a:rPr lang="zh-TW" altLang="en-US" b="1" dirty="0"/>
              <a:t>研究假設：</a:t>
            </a:r>
            <a:r>
              <a:rPr lang="zh-TW" altLang="en-US" dirty="0"/>
              <a:t> * 假設一：再生能源已達成超越核能的結構性轉折（方向四）。</a:t>
            </a:r>
          </a:p>
          <a:p>
            <a:pPr lvl="1"/>
            <a:r>
              <a:rPr lang="zh-TW" altLang="en-US" dirty="0"/>
              <a:t>假設二：自用發電設備（企業</a:t>
            </a:r>
            <a:r>
              <a:rPr lang="en-US" altLang="zh-TW" dirty="0"/>
              <a:t>/</a:t>
            </a:r>
            <a:r>
              <a:rPr lang="zh-TW" altLang="en-US" dirty="0"/>
              <a:t>民間）的綠能成長率優於傳統電廠（方向三）。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057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0311E-88F8-484E-A0F8-CEC3B71D2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6054AB-720F-3167-4CF2-8DA29EB44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2. </a:t>
            </a:r>
            <a:r>
              <a:rPr lang="zh-TW" altLang="en-US" b="1" dirty="0"/>
              <a:t>資料收集與初步探索 </a:t>
            </a:r>
            <a:r>
              <a:rPr lang="en-US" altLang="zh-TW" b="1" dirty="0"/>
              <a:t>(Data Sourcing)</a:t>
            </a:r>
          </a:p>
          <a:p>
            <a:r>
              <a:rPr lang="zh-TW" altLang="en-US" b="1" dirty="0"/>
              <a:t>來源：</a:t>
            </a:r>
            <a:r>
              <a:rPr lang="zh-TW" altLang="en-US" dirty="0"/>
              <a:t> 擷取全國、台電、民營及自用發電設備之 </a:t>
            </a:r>
            <a:r>
              <a:rPr lang="en-US" altLang="zh-TW" dirty="0"/>
              <a:t>20 </a:t>
            </a:r>
            <a:r>
              <a:rPr lang="zh-TW" altLang="en-US" dirty="0"/>
              <a:t>年歷史月度數據。</a:t>
            </a:r>
          </a:p>
          <a:p>
            <a:r>
              <a:rPr lang="zh-TW" altLang="en-US" b="1" dirty="0"/>
              <a:t>特徵：</a:t>
            </a:r>
            <a:r>
              <a:rPr lang="zh-TW" altLang="en-US" dirty="0"/>
              <a:t> 處理包含 </a:t>
            </a:r>
            <a:r>
              <a:rPr lang="en-US" altLang="zh-TW" dirty="0"/>
              <a:t>50+ </a:t>
            </a:r>
            <a:r>
              <a:rPr lang="zh-TW" altLang="en-US" dirty="0"/>
              <a:t>欄位的複雜寬表格式。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8113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2C3D54-D013-3D96-52E6-025EC12EB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3906B9-9A0F-CA4D-EDEE-B2800E7B9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資料自動化清洗與重組 </a:t>
            </a:r>
            <a:r>
              <a:rPr lang="en-US" altLang="zh-TW" b="1" dirty="0"/>
              <a:t>(ETL Process)</a:t>
            </a:r>
          </a:p>
          <a:p>
            <a:r>
              <a:rPr lang="zh-TW" altLang="en-US" b="1" dirty="0"/>
              <a:t>結構重塑：</a:t>
            </a:r>
            <a:r>
              <a:rPr lang="zh-TW" altLang="en-US" dirty="0"/>
              <a:t> 執行 </a:t>
            </a:r>
            <a:r>
              <a:rPr lang="en-US" altLang="zh-TW" b="1" dirty="0"/>
              <a:t>Unpivot (</a:t>
            </a:r>
            <a:r>
              <a:rPr lang="zh-TW" altLang="en-US" b="1" dirty="0"/>
              <a:t>取消樞紐</a:t>
            </a:r>
            <a:r>
              <a:rPr lang="en-US" altLang="zh-TW" b="1" dirty="0"/>
              <a:t>)</a:t>
            </a:r>
            <a:r>
              <a:rPr lang="zh-TW" altLang="en-US" dirty="0"/>
              <a:t> 將寬表轉為標準分析長表。</a:t>
            </a:r>
          </a:p>
          <a:p>
            <a:r>
              <a:rPr lang="zh-TW" altLang="en-US" b="1" dirty="0"/>
              <a:t>維度拆分：</a:t>
            </a:r>
            <a:r>
              <a:rPr lang="zh-TW" altLang="en-US" dirty="0"/>
              <a:t> 透過分隔符號拆解出 </a:t>
            </a:r>
            <a:r>
              <a:rPr lang="en-US" altLang="zh-TW" dirty="0"/>
              <a:t>[</a:t>
            </a:r>
            <a:r>
              <a:rPr lang="zh-TW" altLang="en-US" dirty="0"/>
              <a:t>經營主體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能源大類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能源細項</a:t>
            </a:r>
            <a:r>
              <a:rPr lang="en-US" altLang="zh-TW" dirty="0"/>
              <a:t>]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數據淨化：</a:t>
            </a:r>
            <a:r>
              <a:rPr lang="zh-TW" altLang="en-US" dirty="0"/>
              <a:t> 批次移除雜訊文字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並進行字串修剪 </a:t>
            </a:r>
            <a:r>
              <a:rPr lang="en-US" altLang="zh-TW" dirty="0"/>
              <a:t>(Trim)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邏輯建模：</a:t>
            </a:r>
            <a:r>
              <a:rPr lang="zh-TW" altLang="en-US" dirty="0"/>
              <a:t> 建立 </a:t>
            </a:r>
            <a:r>
              <a:rPr lang="zh-TW" altLang="en-US" b="1" dirty="0"/>
              <a:t>「條件式資料行」</a:t>
            </a:r>
            <a:r>
              <a:rPr lang="zh-TW" altLang="en-US" dirty="0"/>
              <a:t> 自動判斷「潔淨能源」歸類。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610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445BC-1AF8-E503-D0B2-2FAA175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6848B3-CBFC-50E7-B178-F7F9FA84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4. </a:t>
            </a:r>
            <a:r>
              <a:rPr lang="zh-TW" altLang="en-US" b="1" dirty="0"/>
              <a:t>深度資料分析 </a:t>
            </a:r>
            <a:r>
              <a:rPr lang="en-US" altLang="zh-TW" b="1" dirty="0"/>
              <a:t>(Data Insights &amp; Analytics)</a:t>
            </a:r>
          </a:p>
          <a:p>
            <a:r>
              <a:rPr lang="zh-TW" altLang="en-US" b="1" dirty="0"/>
              <a:t>交叉點發現：</a:t>
            </a:r>
            <a:r>
              <a:rPr lang="zh-TW" altLang="en-US" dirty="0"/>
              <a:t> 鎖定不同能源類別的「黃金交叉」時刻。</a:t>
            </a:r>
          </a:p>
          <a:p>
            <a:r>
              <a:rPr lang="zh-TW" altLang="en-US" b="1" dirty="0"/>
              <a:t>貢獻度對比：</a:t>
            </a:r>
            <a:r>
              <a:rPr lang="zh-TW" altLang="en-US" dirty="0"/>
              <a:t> 計算台電 </a:t>
            </a:r>
            <a:r>
              <a:rPr lang="en-US" altLang="zh-TW" dirty="0"/>
              <a:t>vs. </a:t>
            </a:r>
            <a:r>
              <a:rPr lang="zh-TW" altLang="en-US" dirty="0"/>
              <a:t>民營 </a:t>
            </a:r>
            <a:r>
              <a:rPr lang="en-US" altLang="zh-TW" dirty="0"/>
              <a:t>vs. </a:t>
            </a:r>
            <a:r>
              <a:rPr lang="zh-TW" altLang="en-US" dirty="0"/>
              <a:t>自用在潔淨能源上的貢獻佔比。</a:t>
            </a:r>
          </a:p>
          <a:p>
            <a:r>
              <a:rPr lang="zh-TW" altLang="en-US" b="1" dirty="0"/>
              <a:t>季節性分析：</a:t>
            </a:r>
            <a:r>
              <a:rPr lang="zh-TW" altLang="en-US" dirty="0"/>
              <a:t> 觀察發電結構在冬夏季的韌性與差異。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8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E79172-72BF-B270-BC98-57276887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357848-2309-7B01-D90A-4FCA7E772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5. Power BI </a:t>
            </a:r>
            <a:r>
              <a:rPr lang="zh-TW" altLang="en-US" b="1" dirty="0"/>
              <a:t>視覺化報表產出 </a:t>
            </a:r>
            <a:r>
              <a:rPr lang="en-US" altLang="zh-TW" b="1" dirty="0"/>
              <a:t>(Visual Dashboard)</a:t>
            </a:r>
          </a:p>
          <a:p>
            <a:r>
              <a:rPr lang="zh-TW" altLang="en-US" b="1" dirty="0"/>
              <a:t>趨勢圖表：</a:t>
            </a:r>
            <a:r>
              <a:rPr lang="zh-TW" altLang="en-US" dirty="0"/>
              <a:t> 繪製動態堆疊面積圖，展現 </a:t>
            </a:r>
            <a:r>
              <a:rPr lang="en-US" altLang="zh-TW" dirty="0"/>
              <a:t>20 </a:t>
            </a:r>
            <a:r>
              <a:rPr lang="zh-TW" altLang="en-US" dirty="0"/>
              <a:t>年結構變遷。</a:t>
            </a:r>
          </a:p>
          <a:p>
            <a:r>
              <a:rPr lang="zh-TW" altLang="en-US" b="1" dirty="0"/>
              <a:t>核心指標 </a:t>
            </a:r>
            <a:r>
              <a:rPr lang="en-US" altLang="zh-TW" b="1" dirty="0"/>
              <a:t>(KPI)</a:t>
            </a:r>
            <a:r>
              <a:rPr lang="zh-TW" altLang="en-US" b="1" dirty="0"/>
              <a:t>：</a:t>
            </a:r>
            <a:r>
              <a:rPr lang="zh-TW" altLang="en-US" dirty="0"/>
              <a:t> 建立動態量值卡片，即時顯示當前潔淨能源佔比。</a:t>
            </a:r>
          </a:p>
          <a:p>
            <a:r>
              <a:rPr lang="zh-TW" altLang="en-US" b="1" dirty="0"/>
              <a:t>互動設計：</a:t>
            </a:r>
            <a:r>
              <a:rPr lang="zh-TW" altLang="en-US" dirty="0"/>
              <a:t> 設置時間與主體切片器 </a:t>
            </a:r>
            <a:r>
              <a:rPr lang="en-US" altLang="zh-TW" dirty="0"/>
              <a:t>(Slicer)</a:t>
            </a:r>
            <a:r>
              <a:rPr lang="zh-TW" altLang="en-US" dirty="0"/>
              <a:t>，支持「下鑽式」探索。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670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24B10B-341A-DB2B-6121-2E6909E8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523407A-2F3A-C50B-3F64-91A8D5F85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6. </a:t>
            </a:r>
            <a:r>
              <a:rPr lang="zh-TW" altLang="en-US" b="1" dirty="0"/>
              <a:t>專題簡報生成與結論 </a:t>
            </a:r>
            <a:r>
              <a:rPr lang="en-US" altLang="zh-TW" b="1" dirty="0"/>
              <a:t>(Final Presentation)</a:t>
            </a:r>
          </a:p>
          <a:p>
            <a:r>
              <a:rPr lang="zh-TW" altLang="en-US" b="1" dirty="0"/>
              <a:t>技術總結：</a:t>
            </a:r>
            <a:r>
              <a:rPr lang="zh-TW" altLang="en-US" dirty="0"/>
              <a:t> 說明 </a:t>
            </a:r>
            <a:r>
              <a:rPr lang="en-US" altLang="zh-TW" dirty="0"/>
              <a:t>ETL </a:t>
            </a:r>
            <a:r>
              <a:rPr lang="zh-TW" altLang="en-US" dirty="0"/>
              <a:t>處理過程與資料嚴謹度。</a:t>
            </a:r>
          </a:p>
          <a:p>
            <a:r>
              <a:rPr lang="zh-TW" altLang="en-US" b="1" dirty="0"/>
              <a:t>關鍵洞察：</a:t>
            </a:r>
            <a:r>
              <a:rPr lang="zh-TW" altLang="en-US" dirty="0"/>
              <a:t> 總結自用發電設備如何引領能源轉型。</a:t>
            </a:r>
          </a:p>
          <a:p>
            <a:r>
              <a:rPr lang="zh-TW" altLang="en-US" b="1" dirty="0"/>
              <a:t>策略建議：</a:t>
            </a:r>
            <a:r>
              <a:rPr lang="zh-TW" altLang="en-US" dirty="0"/>
              <a:t> 根據數據預測 </a:t>
            </a:r>
            <a:r>
              <a:rPr lang="en-US" altLang="zh-TW" dirty="0"/>
              <a:t>2026 </a:t>
            </a:r>
            <a:r>
              <a:rPr lang="zh-TW" altLang="en-US" dirty="0"/>
              <a:t>年後台灣能源配比的挑戰。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6247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33224-B4C8-50D2-0AD6-C468ADA62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330D6F-1852-2386-A8C5-C7CAC6238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你的下一步建議</a:t>
            </a:r>
          </a:p>
          <a:p>
            <a:r>
              <a:rPr lang="zh-TW" altLang="en-US" dirty="0"/>
              <a:t>既然你已經完成了 </a:t>
            </a:r>
            <a:r>
              <a:rPr lang="en-US" altLang="zh-TW" b="1" dirty="0"/>
              <a:t>1 </a:t>
            </a:r>
            <a:r>
              <a:rPr lang="zh-TW" altLang="en-US" b="1" dirty="0"/>
              <a:t>到 </a:t>
            </a:r>
            <a:r>
              <a:rPr lang="en-US" altLang="zh-TW" b="1" dirty="0"/>
              <a:t>3 </a:t>
            </a:r>
            <a:r>
              <a:rPr lang="zh-TW" altLang="en-US" b="1" dirty="0"/>
              <a:t>步 </a:t>
            </a:r>
            <a:r>
              <a:rPr lang="en-US" altLang="zh-TW" b="1" dirty="0"/>
              <a:t>(ETL)</a:t>
            </a:r>
            <a:r>
              <a:rPr lang="zh-TW" altLang="en-US" dirty="0"/>
              <a:t>，現在進入 </a:t>
            </a:r>
            <a:r>
              <a:rPr lang="zh-TW" altLang="en-US" b="1" dirty="0"/>
              <a:t>第 </a:t>
            </a:r>
            <a:r>
              <a:rPr lang="en-US" altLang="zh-TW" b="1" dirty="0"/>
              <a:t>4 </a:t>
            </a:r>
            <a:r>
              <a:rPr lang="zh-TW" altLang="en-US" b="1" dirty="0"/>
              <a:t>步 </a:t>
            </a:r>
            <a:r>
              <a:rPr lang="en-US" altLang="zh-TW" b="1" dirty="0"/>
              <a:t>(</a:t>
            </a:r>
            <a:r>
              <a:rPr lang="zh-TW" altLang="en-US" b="1" dirty="0"/>
              <a:t>資料分析</a:t>
            </a:r>
            <a:r>
              <a:rPr lang="en-US" altLang="zh-TW" b="1" dirty="0"/>
              <a:t>)</a:t>
            </a:r>
            <a:r>
              <a:rPr lang="zh-TW" altLang="en-US" dirty="0"/>
              <a:t> 時，你可以試著在 </a:t>
            </a:r>
            <a:r>
              <a:rPr lang="en-US" altLang="zh-TW" dirty="0"/>
              <a:t>Power BI </a:t>
            </a:r>
            <a:r>
              <a:rPr lang="zh-TW" altLang="en-US" dirty="0"/>
              <a:t>裡找出這一個答案：</a:t>
            </a:r>
          </a:p>
          <a:p>
            <a:r>
              <a:rPr lang="zh-TW" altLang="en-US" b="1" dirty="0"/>
              <a:t>「在哪一個月份，自用發電設備的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發電量，第一次超越了台電自身的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發電量？」</a:t>
            </a:r>
            <a:endParaRPr lang="zh-TW" altLang="en-US" dirty="0"/>
          </a:p>
          <a:p>
            <a:r>
              <a:rPr lang="zh-TW" altLang="en-US" dirty="0"/>
              <a:t>這會是你簡報中最酷、最有力的一張投影片，因為它直接證明了「能源民主化」的進程。</a:t>
            </a:r>
          </a:p>
          <a:p>
            <a:r>
              <a:rPr lang="zh-TW" altLang="en-US" b="1" dirty="0"/>
              <a:t>需要我幫你把這份 </a:t>
            </a:r>
            <a:r>
              <a:rPr lang="en-US" altLang="zh-TW" b="1" dirty="0"/>
              <a:t>Agenda </a:t>
            </a:r>
            <a:r>
              <a:rPr lang="zh-TW" altLang="en-US" b="1" dirty="0"/>
              <a:t>轉換成一份 </a:t>
            </a:r>
            <a:r>
              <a:rPr lang="en-US" altLang="zh-TW" b="1" dirty="0"/>
              <a:t>PPT </a:t>
            </a:r>
            <a:r>
              <a:rPr lang="zh-TW" altLang="en-US" b="1" dirty="0"/>
              <a:t>用的「專案時程圖 </a:t>
            </a:r>
            <a:r>
              <a:rPr lang="en-US" altLang="zh-TW" b="1" dirty="0"/>
              <a:t>(Gantt Chart)</a:t>
            </a:r>
            <a:r>
              <a:rPr lang="zh-TW" altLang="en-US" b="1" dirty="0"/>
              <a:t>」描述，或是幫你寫出簡報開場的第一張投影片內容嗎？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48426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E70D9-A2F5-4DD7-6774-FDF0B13B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專題資料處理技術報告 </a:t>
            </a:r>
            <a:r>
              <a:rPr lang="en-US" altLang="zh-TW" dirty="0"/>
              <a:t>(ETL Summary)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BA0607-B15B-CA87-7EC6-ECF75025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原始資料來源與挑戰</a:t>
            </a:r>
          </a:p>
          <a:p>
            <a:r>
              <a:rPr lang="zh-TW" altLang="en-US" b="1" dirty="0"/>
              <a:t>資料範疇：</a:t>
            </a:r>
            <a:r>
              <a:rPr lang="zh-TW" altLang="en-US" dirty="0"/>
              <a:t>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年台灣逐月發電量數據。</a:t>
            </a:r>
          </a:p>
          <a:p>
            <a:r>
              <a:rPr lang="zh-TW" altLang="en-US" b="1" dirty="0"/>
              <a:t>原始格式：</a:t>
            </a:r>
            <a:r>
              <a:rPr lang="zh-TW" altLang="en-US" dirty="0"/>
              <a:t> 典型「寬表 </a:t>
            </a:r>
            <a:r>
              <a:rPr lang="en-US" altLang="zh-TW" dirty="0"/>
              <a:t>(Wide Table)</a:t>
            </a:r>
            <a:r>
              <a:rPr lang="zh-TW" altLang="en-US" dirty="0"/>
              <a:t>」，包含超過 </a:t>
            </a:r>
            <a:r>
              <a:rPr lang="en-US" altLang="zh-TW" dirty="0"/>
              <a:t>50 </a:t>
            </a:r>
            <a:r>
              <a:rPr lang="zh-TW" altLang="en-US" dirty="0"/>
              <a:t>個欄位（如：再生能源</a:t>
            </a:r>
            <a:r>
              <a:rPr lang="en-US" altLang="zh-TW" dirty="0"/>
              <a:t>_</a:t>
            </a:r>
            <a:r>
              <a:rPr lang="zh-TW" altLang="en-US" dirty="0"/>
              <a:t>太陽光電</a:t>
            </a:r>
            <a:r>
              <a:rPr lang="en-US" altLang="zh-TW" dirty="0"/>
              <a:t>_</a:t>
            </a:r>
            <a:r>
              <a:rPr lang="zh-TW" altLang="en-US" dirty="0"/>
              <a:t>台電）。</a:t>
            </a:r>
          </a:p>
          <a:p>
            <a:r>
              <a:rPr lang="zh-TW" altLang="en-US" b="1" dirty="0"/>
              <a:t>面臨挑戰：</a:t>
            </a:r>
            <a:r>
              <a:rPr lang="zh-TW" altLang="en-US" dirty="0"/>
              <a:t> * </a:t>
            </a:r>
            <a:r>
              <a:rPr lang="zh-TW" altLang="en-US" b="1" dirty="0"/>
              <a:t>維度混雜：</a:t>
            </a:r>
            <a:r>
              <a:rPr lang="zh-TW" altLang="en-US" dirty="0"/>
              <a:t> 經營主體、能源類別、發電細項全擠在欄位名稱中，無法直接進行類別分析。</a:t>
            </a:r>
          </a:p>
          <a:p>
            <a:pPr lvl="1"/>
            <a:r>
              <a:rPr lang="zh-TW" altLang="en-US" b="1" dirty="0"/>
              <a:t>資料冗餘：</a:t>
            </a:r>
            <a:r>
              <a:rPr lang="zh-TW" altLang="en-US" dirty="0"/>
              <a:t> 包含「全國總量」與「分項數據」，直接運算會造成重複計算。</a:t>
            </a:r>
          </a:p>
          <a:p>
            <a:pPr lvl="1"/>
            <a:r>
              <a:rPr lang="zh-TW" altLang="en-US" b="1" dirty="0"/>
              <a:t>命名雜訊：</a:t>
            </a:r>
            <a:r>
              <a:rPr lang="zh-TW" altLang="en-US" dirty="0"/>
              <a:t> 欄位帶有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或 </a:t>
            </a:r>
            <a:r>
              <a:rPr lang="en-US" altLang="zh-TW" dirty="0"/>
              <a:t>_</a:t>
            </a:r>
            <a:r>
              <a:rPr lang="zh-TW" altLang="en-US" dirty="0"/>
              <a:t>全國 等非結構化文字。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9287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C46CB4-108E-A652-0C0E-D00F2D90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53C0F2-5FF7-730F-430A-515679CA3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b="1" dirty="0"/>
              <a:t>2. ETL </a:t>
            </a:r>
            <a:r>
              <a:rPr lang="zh-TW" altLang="en-US" b="1" dirty="0"/>
              <a:t>核心處理流程 </a:t>
            </a:r>
            <a:r>
              <a:rPr lang="en-US" altLang="zh-TW" b="1" dirty="0"/>
              <a:t>(Power Query)</a:t>
            </a:r>
          </a:p>
          <a:p>
            <a:r>
              <a:rPr lang="zh-TW" altLang="en-US" dirty="0"/>
              <a:t>我們採用了 </a:t>
            </a:r>
            <a:r>
              <a:rPr lang="zh-TW" altLang="en-US" b="1" dirty="0"/>
              <a:t>「標籤化 </a:t>
            </a:r>
            <a:r>
              <a:rPr lang="en-US" altLang="zh-TW" b="1" dirty="0"/>
              <a:t>(Tagging)</a:t>
            </a:r>
            <a:r>
              <a:rPr lang="zh-TW" altLang="en-US" b="1" dirty="0"/>
              <a:t>」</a:t>
            </a:r>
            <a:r>
              <a:rPr lang="zh-TW" altLang="en-US" dirty="0"/>
              <a:t> 與 </a:t>
            </a:r>
            <a:r>
              <a:rPr lang="zh-TW" altLang="en-US" b="1" dirty="0"/>
              <a:t>「結構重建 </a:t>
            </a:r>
            <a:r>
              <a:rPr lang="en-US" altLang="zh-TW" b="1" dirty="0"/>
              <a:t>(Restructuring)</a:t>
            </a:r>
            <a:r>
              <a:rPr lang="zh-TW" altLang="en-US" b="1" dirty="0"/>
              <a:t>」</a:t>
            </a:r>
            <a:r>
              <a:rPr lang="zh-TW" altLang="en-US" dirty="0"/>
              <a:t> 的策略，將資料轉化為分析友好的「長表 </a:t>
            </a:r>
            <a:r>
              <a:rPr lang="en-US" altLang="zh-TW" dirty="0"/>
              <a:t>(Long Table)</a:t>
            </a:r>
            <a:r>
              <a:rPr lang="zh-TW" altLang="en-US" dirty="0"/>
              <a:t>」。</a:t>
            </a:r>
          </a:p>
          <a:p>
            <a:r>
              <a:rPr lang="zh-TW" altLang="en-US" b="1" dirty="0"/>
              <a:t>第一階段：結構轉向 </a:t>
            </a:r>
            <a:r>
              <a:rPr lang="en-US" altLang="zh-TW" b="1" dirty="0"/>
              <a:t>(Unpivot)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固定「西元年」與「月份」，將其餘 </a:t>
            </a:r>
            <a:r>
              <a:rPr lang="en-US" altLang="zh-TW" dirty="0"/>
              <a:t>50 </a:t>
            </a:r>
            <a:r>
              <a:rPr lang="zh-TW" altLang="en-US" dirty="0"/>
              <a:t>個發電欄位執行 </a:t>
            </a:r>
            <a:r>
              <a:rPr lang="zh-TW" altLang="en-US" b="1" dirty="0"/>
              <a:t>「取消樞紐 </a:t>
            </a:r>
            <a:r>
              <a:rPr lang="en-US" altLang="zh-TW" b="1" dirty="0"/>
              <a:t>(Unpivot)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效果：</a:t>
            </a:r>
            <a:r>
              <a:rPr lang="zh-TW" altLang="en-US" dirty="0"/>
              <a:t> 將橫向擴展的欄位轉為縱向的 </a:t>
            </a:r>
            <a:r>
              <a:rPr lang="en-US" altLang="zh-TW" dirty="0"/>
              <a:t>Row</a:t>
            </a:r>
            <a:r>
              <a:rPr lang="zh-TW" altLang="en-US" dirty="0"/>
              <a:t>，使每一筆發電數值都配有一組「屬性標籤」。</a:t>
            </a:r>
          </a:p>
          <a:p>
            <a:r>
              <a:rPr lang="zh-TW" altLang="en-US" b="1" dirty="0"/>
              <a:t>第二階段：多層級維度拆分 </a:t>
            </a:r>
            <a:r>
              <a:rPr lang="en-US" altLang="zh-TW" b="1" dirty="0"/>
              <a:t>(Split Column)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利用底線 </a:t>
            </a:r>
            <a:r>
              <a:rPr lang="en-US" altLang="zh-TW" dirty="0"/>
              <a:t>_</a:t>
            </a:r>
            <a:r>
              <a:rPr lang="zh-TW" altLang="en-US" dirty="0"/>
              <a:t> 作為分隔符號，將屬性欄位拆解為三個獨立維度：</a:t>
            </a:r>
          </a:p>
          <a:p>
            <a:pPr lvl="1"/>
            <a:r>
              <a:rPr lang="zh-TW" altLang="en-US" b="1" dirty="0"/>
              <a:t>經營主體：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台電、民營電廠、自用發電設備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能源大類：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火力、核能、再生能源、抽蓄水力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能源細項：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燃煤、燃氣、太陽光電、風力等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438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3CA47-D4BD-EB5E-3D13-DED5181B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C6666C0-DFA5-F6F2-F820-E0F5C4015E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676316"/>
            <a:ext cx="10642600" cy="26499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第三階段：資料淨化 (Data Cleaning)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去除雜訊： 批次取代 (數值) 字眼，並執行 修剪 (Trim) 除去看不見的空白，確保資料比對精準。</a:t>
            </a:r>
          </a:p>
          <a:p>
            <a:pPr marL="5715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邏輯修正： 針對「核能」等兩層級欄位，使用 「條件式資料行」 進行「向左校正」，確保每個 Row 的主體與類別標籤完整。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第四階段：價值定義 (Feature Engineering)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新增「潔淨能源」標籤： * 定義： 若能源大類為 再生能源 或 核能 $\rightarrow$ 歸類為 「潔淨能源」。</a:t>
            </a:r>
          </a:p>
          <a:p>
            <a:pPr marL="514350" marR="0" lvl="1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目的： 為了直接計算專題核心指標「潔淨能源佔比 %」。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246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E8DE-6366-C9E2-2316-E298ADBC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D7B753-0588-CBC2-B10F-10F5DC3A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資料建模與分析亮點 </a:t>
            </a:r>
            <a:r>
              <a:rPr lang="en-US" altLang="zh-TW" b="1" dirty="0"/>
              <a:t>(</a:t>
            </a:r>
            <a:r>
              <a:rPr lang="zh-TW" altLang="en-US" b="1" dirty="0"/>
              <a:t>簡報結論預告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透過上述處理，這份資料現在具備了支持以下兩大發現的能力：</a:t>
            </a:r>
          </a:p>
          <a:p>
            <a:r>
              <a:rPr lang="zh-TW" altLang="en-US" b="1" dirty="0"/>
              <a:t>結構交叉點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能夠精準鎖定「再生能源」月產出正式超越「核能」的歷史瞬間，觀察能源接力賽的轉折。</a:t>
            </a:r>
          </a:p>
          <a:p>
            <a:r>
              <a:rPr lang="zh-TW" altLang="en-US" b="1" dirty="0"/>
              <a:t>民間動能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透過 經營主體 與 潔淨標籤 的交叉分析，實證了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才是目前推動潔淨能源佔比上升的最快引擎（能源民主化趨勢）。</a:t>
            </a:r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💡 給簡報的小建議</a:t>
            </a:r>
          </a:p>
          <a:p>
            <a:r>
              <a:rPr lang="zh-TW" altLang="en-US" dirty="0"/>
              <a:t>在簡報這部分時，你可以放一張 </a:t>
            </a:r>
            <a:r>
              <a:rPr lang="zh-TW" altLang="en-US" b="1" dirty="0"/>
              <a:t>「清洗前 </a:t>
            </a:r>
            <a:r>
              <a:rPr lang="en-US" altLang="zh-TW" b="1" dirty="0"/>
              <a:t>(Before) vs. </a:t>
            </a:r>
            <a:r>
              <a:rPr lang="zh-TW" altLang="en-US" b="1" dirty="0"/>
              <a:t>清洗後 </a:t>
            </a:r>
            <a:r>
              <a:rPr lang="en-US" altLang="zh-TW" b="1" dirty="0"/>
              <a:t>(After)</a:t>
            </a:r>
            <a:r>
              <a:rPr lang="zh-TW" altLang="en-US" b="1" dirty="0"/>
              <a:t>」</a:t>
            </a:r>
            <a:r>
              <a:rPr lang="zh-TW" altLang="en-US" dirty="0"/>
              <a:t> 的截圖對比。</a:t>
            </a:r>
          </a:p>
          <a:p>
            <a:r>
              <a:rPr lang="en-US" altLang="zh-TW" b="1" dirty="0"/>
              <a:t>Before:</a:t>
            </a:r>
            <a:r>
              <a:rPr lang="zh-TW" altLang="en-US" dirty="0"/>
              <a:t> 密密麻麻、看不到盡頭的 </a:t>
            </a:r>
            <a:r>
              <a:rPr lang="en-US" altLang="zh-TW" dirty="0"/>
              <a:t>Excel </a:t>
            </a:r>
            <a:r>
              <a:rPr lang="zh-TW" altLang="en-US" dirty="0"/>
              <a:t>欄位。</a:t>
            </a:r>
          </a:p>
          <a:p>
            <a:r>
              <a:rPr lang="en-US" altLang="zh-TW" b="1" dirty="0"/>
              <a:t>After:</a:t>
            </a:r>
            <a:r>
              <a:rPr lang="zh-TW" altLang="en-US" dirty="0"/>
              <a:t> 簡潔、具有「大類</a:t>
            </a:r>
            <a:r>
              <a:rPr lang="en-US" altLang="zh-TW" dirty="0"/>
              <a:t>/</a:t>
            </a:r>
            <a:r>
              <a:rPr lang="zh-TW" altLang="en-US" dirty="0"/>
              <a:t>主體</a:t>
            </a:r>
            <a:r>
              <a:rPr lang="en-US" altLang="zh-TW" dirty="0"/>
              <a:t>/</a:t>
            </a:r>
            <a:r>
              <a:rPr lang="zh-TW" altLang="en-US" dirty="0"/>
              <a:t>潔淨」標籤的結構化表格。 這能讓評審或主管立刻看出你的 </a:t>
            </a:r>
            <a:r>
              <a:rPr lang="en-US" altLang="zh-TW" b="1" dirty="0"/>
              <a:t>Data Sense (</a:t>
            </a:r>
            <a:r>
              <a:rPr lang="zh-TW" altLang="en-US" b="1" dirty="0"/>
              <a:t>資料感</a:t>
            </a:r>
            <a:r>
              <a:rPr lang="en-US" altLang="zh-TW" b="1" dirty="0"/>
              <a:t>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既然 </a:t>
            </a:r>
            <a:r>
              <a:rPr lang="en-US" altLang="zh-TW" b="1" dirty="0"/>
              <a:t>ETL Summary </a:t>
            </a:r>
            <a:r>
              <a:rPr lang="zh-TW" altLang="en-US" b="1" dirty="0"/>
              <a:t>做好了，需要我幫你擬一份這份專題簡報的「大綱與目錄」嗎？幫你把分析發現串成一個有溫度的故事。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70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3A1D4-1F22-0E32-9B64-AD1583DF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9686E7-8DAA-2821-8CE5-DDC316FA8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AEF719-94EA-D524-FCCC-04205D3EB30D}"/>
              </a:ext>
            </a:extLst>
          </p:cNvPr>
          <p:cNvSpPr txBox="1"/>
          <p:nvPr/>
        </p:nvSpPr>
        <p:spPr>
          <a:xfrm>
            <a:off x="3048000" y="-3262682"/>
            <a:ext cx="6096000" cy="13388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📊 專題資料處理與清洗技術紀錄 </a:t>
            </a:r>
            <a:r>
              <a:rPr lang="en-US" altLang="zh-TW" b="1" dirty="0"/>
              <a:t>(ETL Summary)</a:t>
            </a:r>
          </a:p>
          <a:p>
            <a:pPr>
              <a:buNone/>
            </a:pPr>
            <a:r>
              <a:rPr lang="zh-TW" altLang="en-US" b="1" dirty="0"/>
              <a:t>階段一：原始資料檢視 </a:t>
            </a:r>
            <a:r>
              <a:rPr lang="en-US" altLang="zh-TW" b="1" dirty="0"/>
              <a:t>(Data Assessment)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資料特徵：</a:t>
            </a:r>
            <a:r>
              <a:rPr lang="zh-TW" altLang="en-US" dirty="0"/>
              <a:t> 涵蓋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年（預估）之台灣逐月發電量，欄位多達 </a:t>
            </a:r>
            <a:r>
              <a:rPr lang="en-US" altLang="zh-TW" dirty="0"/>
              <a:t>50 </a:t>
            </a:r>
            <a:r>
              <a:rPr lang="zh-TW" altLang="en-US" dirty="0"/>
              <a:t>餘項。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原始挑戰：</a:t>
            </a:r>
            <a:r>
              <a:rPr lang="zh-TW" altLang="en-US" dirty="0"/>
              <a:t> * </a:t>
            </a:r>
            <a:r>
              <a:rPr lang="zh-TW" altLang="en-US" b="1" dirty="0"/>
              <a:t>寬表困境 </a:t>
            </a:r>
            <a:r>
              <a:rPr lang="en-US" altLang="zh-TW" b="1" dirty="0"/>
              <a:t>(Wide Format)</a:t>
            </a:r>
            <a:r>
              <a:rPr lang="zh-TW" altLang="en-US" b="1" dirty="0"/>
              <a:t>：</a:t>
            </a:r>
            <a:r>
              <a:rPr lang="zh-TW" altLang="en-US" dirty="0"/>
              <a:t> 經營主體（台電</a:t>
            </a:r>
            <a:r>
              <a:rPr lang="en-US" altLang="zh-TW" dirty="0"/>
              <a:t>/</a:t>
            </a:r>
            <a:r>
              <a:rPr lang="zh-TW" altLang="en-US" dirty="0"/>
              <a:t>民營</a:t>
            </a:r>
            <a:r>
              <a:rPr lang="en-US" altLang="zh-TW" dirty="0"/>
              <a:t>/</a:t>
            </a:r>
            <a:r>
              <a:rPr lang="zh-TW" altLang="en-US" dirty="0"/>
              <a:t>自用）與能源細項全擠在欄位名稱中，無法進行動態分類。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命名雜訊：</a:t>
            </a:r>
            <a:r>
              <a:rPr lang="zh-TW" altLang="en-US" dirty="0"/>
              <a:t> 欄位標題帶有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或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等非結構化贅字。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重複計算風險：</a:t>
            </a:r>
            <a:r>
              <a:rPr lang="zh-TW" altLang="en-US" dirty="0"/>
              <a:t> 原始表包含「全國總量」與「各主體細項」，若不處理會造成數據加倍。</a:t>
            </a:r>
          </a:p>
          <a:p>
            <a:pPr>
              <a:buNone/>
            </a:pPr>
            <a:r>
              <a:rPr lang="zh-TW" altLang="en-US" b="1" dirty="0"/>
              <a:t>階段二：核心 </a:t>
            </a:r>
            <a:r>
              <a:rPr lang="en-US" altLang="zh-TW" b="1" dirty="0"/>
              <a:t>ETL </a:t>
            </a:r>
            <a:r>
              <a:rPr lang="zh-TW" altLang="en-US" b="1" dirty="0"/>
              <a:t>清洗流程 </a:t>
            </a:r>
            <a:r>
              <a:rPr lang="en-US" altLang="zh-TW" b="1" dirty="0"/>
              <a:t>(The Transformation)</a:t>
            </a:r>
          </a:p>
          <a:p>
            <a:pPr>
              <a:buNone/>
            </a:pPr>
            <a:r>
              <a:rPr lang="zh-TW" altLang="en-US" dirty="0"/>
              <a:t>在 </a:t>
            </a:r>
            <a:r>
              <a:rPr lang="en-US" altLang="zh-TW" dirty="0"/>
              <a:t>Power BI </a:t>
            </a:r>
            <a:r>
              <a:rPr lang="zh-TW" altLang="en-US" dirty="0"/>
              <a:t>的 </a:t>
            </a:r>
            <a:r>
              <a:rPr lang="en-US" altLang="zh-TW" dirty="0"/>
              <a:t>Power Query </a:t>
            </a:r>
            <a:r>
              <a:rPr lang="zh-TW" altLang="en-US" dirty="0"/>
              <a:t>環境中，我們執行了以下關鍵轉換：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取消樞紐 </a:t>
            </a:r>
            <a:r>
              <a:rPr lang="en-US" altLang="zh-TW" b="1" dirty="0"/>
              <a:t>(Unpivot Columns)</a:t>
            </a:r>
            <a:r>
              <a:rPr lang="zh-TW" altLang="en-US" b="1" dirty="0"/>
              <a:t>：</a:t>
            </a:r>
            <a:r>
              <a:rPr lang="zh-TW" altLang="en-US" dirty="0"/>
              <a:t> 將 </a:t>
            </a:r>
            <a:r>
              <a:rPr lang="en-US" altLang="zh-TW" dirty="0"/>
              <a:t>50 </a:t>
            </a:r>
            <a:r>
              <a:rPr lang="zh-TW" altLang="en-US" dirty="0"/>
              <a:t>幾個橫向欄位轉化為縱向的 </a:t>
            </a:r>
            <a:r>
              <a:rPr lang="zh-TW" altLang="en-US" b="1" dirty="0"/>
              <a:t>「多列 </a:t>
            </a:r>
            <a:r>
              <a:rPr lang="en-US" altLang="zh-TW" b="1" dirty="0"/>
              <a:t>(Rows) </a:t>
            </a:r>
            <a:r>
              <a:rPr lang="zh-TW" altLang="en-US" b="1" dirty="0"/>
              <a:t>結構」</a:t>
            </a:r>
            <a:r>
              <a:rPr lang="zh-TW" altLang="en-US" dirty="0"/>
              <a:t>，讓每一筆數據都配備一組屬性標籤。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階層式拆分 </a:t>
            </a:r>
            <a:r>
              <a:rPr lang="en-US" altLang="zh-TW" b="1" dirty="0"/>
              <a:t>(Split by Delimiter)</a:t>
            </a:r>
            <a:r>
              <a:rPr lang="zh-TW" altLang="en-US" b="1" dirty="0"/>
              <a:t>：</a:t>
            </a:r>
            <a:r>
              <a:rPr lang="zh-TW" altLang="en-US" dirty="0"/>
              <a:t> 利用底線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/>
              <a:t> 將屬性拆解為三個核心維度：</a:t>
            </a:r>
            <a:r>
              <a:rPr lang="en-US" altLang="zh-TW" b="1" dirty="0"/>
              <a:t>[</a:t>
            </a:r>
            <a:r>
              <a:rPr lang="zh-TW" altLang="en-US" b="1" dirty="0"/>
              <a:t>經營主體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能源大類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能源細項</a:t>
            </a:r>
            <a:r>
              <a:rPr lang="en-US" altLang="zh-TW" b="1" dirty="0"/>
              <a:t>]</a:t>
            </a:r>
            <a:r>
              <a:rPr lang="zh-TW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精準清理 </a:t>
            </a:r>
            <a:r>
              <a:rPr lang="en-US" altLang="zh-TW" b="1" dirty="0"/>
              <a:t>(Data Cleansing)</a:t>
            </a:r>
            <a:r>
              <a:rPr lang="zh-TW" altLang="en-US" b="1" dirty="0"/>
              <a:t>：</a:t>
            </a:r>
            <a:r>
              <a:rPr lang="zh-TW" altLang="en-US" dirty="0"/>
              <a:t> * 批次移除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與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字眼。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TW" altLang="en-US" dirty="0"/>
              <a:t>執行 </a:t>
            </a:r>
            <a:r>
              <a:rPr lang="zh-TW" altLang="en-US" b="1" dirty="0"/>
              <a:t>修剪 </a:t>
            </a:r>
            <a:r>
              <a:rPr lang="en-US" altLang="zh-TW" b="1" dirty="0"/>
              <a:t>(Trim)</a:t>
            </a:r>
            <a:r>
              <a:rPr lang="zh-TW" altLang="en-US" dirty="0"/>
              <a:t> 與 </a:t>
            </a:r>
            <a:r>
              <a:rPr lang="zh-TW" altLang="en-US" b="1" dirty="0"/>
              <a:t>清除 </a:t>
            </a:r>
            <a:r>
              <a:rPr lang="en-US" altLang="zh-TW" b="1" dirty="0"/>
              <a:t>(Clean)</a:t>
            </a:r>
            <a:r>
              <a:rPr lang="zh-TW" altLang="en-US" dirty="0"/>
              <a:t>，排除看不見的空白字元，確保資料比對 </a:t>
            </a:r>
            <a:r>
              <a:rPr lang="en-US" altLang="zh-TW" dirty="0"/>
              <a:t>100% </a:t>
            </a:r>
            <a:r>
              <a:rPr lang="zh-TW" altLang="en-US" dirty="0"/>
              <a:t>精確。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條件式校正 </a:t>
            </a:r>
            <a:r>
              <a:rPr lang="en-US" altLang="zh-TW" b="1" dirty="0"/>
              <a:t>(Conditional Alignment)</a:t>
            </a:r>
            <a:r>
              <a:rPr lang="zh-TW" altLang="en-US" b="1" dirty="0"/>
              <a:t>：</a:t>
            </a:r>
            <a:r>
              <a:rPr lang="zh-TW" altLang="en-US" dirty="0"/>
              <a:t> 針對核能等不對稱層級（只有兩層），利用「條件式資料行」實施 </a:t>
            </a:r>
            <a:r>
              <a:rPr lang="zh-TW" altLang="en-US" b="1" dirty="0"/>
              <a:t>「向左填補邏輯」</a:t>
            </a:r>
            <a:r>
              <a:rPr lang="zh-TW" altLang="en-US" dirty="0"/>
              <a:t>，確保所有標籤對齊。</a:t>
            </a:r>
          </a:p>
          <a:p>
            <a:pPr>
              <a:buNone/>
            </a:pPr>
            <a:r>
              <a:rPr lang="zh-TW" altLang="en-US" b="1" dirty="0"/>
              <a:t>階段三：特徵工程與價值定義 </a:t>
            </a:r>
            <a:r>
              <a:rPr lang="en-US" altLang="zh-TW" b="1" dirty="0"/>
              <a:t>(Feature Engineering)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新增「潔淨能源」判定欄位：</a:t>
            </a:r>
            <a:r>
              <a:rPr lang="zh-TW" altLang="en-US" dirty="0"/>
              <a:t> * </a:t>
            </a:r>
            <a:r>
              <a:rPr lang="zh-TW" altLang="en-US" b="1" dirty="0"/>
              <a:t>邏輯定義：</a:t>
            </a:r>
            <a:r>
              <a:rPr lang="zh-TW" altLang="en-US" dirty="0"/>
              <a:t> 將 </a:t>
            </a:r>
            <a:r>
              <a:rPr lang="zh-TW" altLang="en-US" dirty="0">
                <a:latin typeface="Courier New" panose="02070309020205020404" pitchFamily="49" charset="0"/>
              </a:rPr>
              <a:t>再生能源</a:t>
            </a:r>
            <a:r>
              <a:rPr lang="zh-TW" altLang="en-US" dirty="0"/>
              <a:t> 與 </a:t>
            </a:r>
            <a:r>
              <a:rPr lang="zh-TW" altLang="en-US" dirty="0">
                <a:latin typeface="Courier New" panose="02070309020205020404" pitchFamily="49" charset="0"/>
              </a:rPr>
              <a:t>核能</a:t>
            </a:r>
            <a:r>
              <a:rPr lang="zh-TW" altLang="en-US" dirty="0"/>
              <a:t> 統一標註為 </a:t>
            </a:r>
            <a:r>
              <a:rPr lang="zh-TW" altLang="en-US" b="1" dirty="0"/>
              <a:t>「潔淨能源」</a:t>
            </a:r>
            <a:r>
              <a:rPr lang="zh-TW" altLang="en-US" dirty="0"/>
              <a:t>，其餘標註為 </a:t>
            </a:r>
            <a:r>
              <a:rPr lang="zh-TW" altLang="en-US" b="1" dirty="0"/>
              <a:t>「傳統火力」</a:t>
            </a:r>
            <a:r>
              <a:rPr lang="zh-TW" altLang="en-US" dirty="0"/>
              <a:t>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特殊處理：</a:t>
            </a:r>
            <a:r>
              <a:rPr lang="zh-TW" altLang="en-US" dirty="0"/>
              <a:t> 將 </a:t>
            </a:r>
            <a:r>
              <a:rPr lang="zh-TW" altLang="en-US" b="1" dirty="0"/>
              <a:t>「抽蓄水力」</a:t>
            </a:r>
            <a:r>
              <a:rPr lang="zh-TW" altLang="en-US" dirty="0"/>
              <a:t> 納入標籤，作為儲能調度的觀測指標。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/>
              <a:t>DAX </a:t>
            </a:r>
            <a:r>
              <a:rPr lang="zh-TW" altLang="en-US" b="1" dirty="0"/>
              <a:t>建模：</a:t>
            </a:r>
            <a:r>
              <a:rPr lang="zh-TW" altLang="en-US" dirty="0"/>
              <a:t> 撰寫動態量值 </a:t>
            </a:r>
            <a:r>
              <a:rPr lang="en-US" altLang="zh-TW" dirty="0"/>
              <a:t>(Measures)</a:t>
            </a:r>
            <a:r>
              <a:rPr lang="zh-TW" altLang="en-US" dirty="0"/>
              <a:t>，即時計算 </a:t>
            </a:r>
            <a:r>
              <a:rPr lang="zh-TW" altLang="en-US" b="1" dirty="0"/>
              <a:t>「潔淨能源佔比 </a:t>
            </a:r>
            <a:r>
              <a:rPr lang="en-US" altLang="zh-TW" b="1" dirty="0"/>
              <a:t>%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pPr>
              <a:buNone/>
            </a:pPr>
            <a:r>
              <a:rPr lang="zh-TW" altLang="en-US" b="1" dirty="0"/>
              <a:t>階段四：專題分析發現預告 </a:t>
            </a:r>
            <a:r>
              <a:rPr lang="en-US" altLang="zh-TW" b="1" dirty="0"/>
              <a:t>(Analytical Insights)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結構交叉分析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成功鎖定再生能源超越核能的歷史「黃金交叉點」。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主體動能對比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實證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在潔淨能源佔比的成長率遠高於國營電廠，反映企業 </a:t>
            </a:r>
            <a:r>
              <a:rPr lang="en-US" altLang="zh-TW" dirty="0"/>
              <a:t>ESG </a:t>
            </a:r>
            <a:r>
              <a:rPr lang="zh-TW" altLang="en-US" dirty="0"/>
              <a:t>的強勁拉動力。</a:t>
            </a:r>
          </a:p>
          <a:p>
            <a:pPr>
              <a:buNone/>
            </a:pPr>
            <a:br>
              <a:rPr lang="zh-TW" altLang="en-US" dirty="0"/>
            </a:br>
            <a:endParaRPr lang="zh-TW" altLang="en-US" dirty="0"/>
          </a:p>
          <a:p>
            <a:pPr>
              <a:buNone/>
            </a:pPr>
            <a:r>
              <a:rPr lang="zh-TW" altLang="en-US" b="1" dirty="0"/>
              <a:t>💡 簡報呈現小秘訣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放一張 </a:t>
            </a:r>
            <a:r>
              <a:rPr lang="en-US" altLang="zh-TW" b="1" dirty="0"/>
              <a:t>Before/After </a:t>
            </a:r>
            <a:r>
              <a:rPr lang="zh-TW" altLang="en-US" b="1" dirty="0"/>
              <a:t>圖：</a:t>
            </a:r>
            <a:r>
              <a:rPr lang="zh-TW" altLang="en-US" dirty="0"/>
              <a:t> 左邊放雜亂的 </a:t>
            </a:r>
            <a:r>
              <a:rPr lang="en-US" altLang="zh-TW" dirty="0"/>
              <a:t>Excel </a:t>
            </a:r>
            <a:r>
              <a:rPr lang="zh-TW" altLang="en-US" dirty="0"/>
              <a:t>原始截圖，右邊放你整理好的漂亮長表。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強調「自動化」：</a:t>
            </a:r>
            <a:r>
              <a:rPr lang="zh-TW" altLang="en-US" dirty="0"/>
              <a:t> 提到這套 </a:t>
            </a:r>
            <a:r>
              <a:rPr lang="en-US" altLang="zh-TW" dirty="0"/>
              <a:t>ETL </a:t>
            </a:r>
            <a:r>
              <a:rPr lang="zh-TW" altLang="en-US" dirty="0"/>
              <a:t>流程未來只要「點擊重新整理」，就能自動處理 </a:t>
            </a:r>
            <a:r>
              <a:rPr lang="en-US" altLang="zh-TW" dirty="0"/>
              <a:t>2026 </a:t>
            </a:r>
            <a:r>
              <a:rPr lang="zh-TW" altLang="en-US" dirty="0"/>
              <a:t>年以後的新數據，這展現了你的</a:t>
            </a:r>
            <a:r>
              <a:rPr lang="zh-TW" altLang="en-US" b="1" dirty="0"/>
              <a:t>工程思維</a:t>
            </a:r>
            <a:r>
              <a:rPr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2267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2A99B-5995-015E-CA3A-30F5F547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BEED38-26D9-8059-695A-D2CF7E1B8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zh-TW" altLang="en-US" b="1" dirty="0"/>
              <a:t>簡報結語與建議 </a:t>
            </a:r>
            <a:r>
              <a:rPr lang="en-US" altLang="zh-TW" b="1" dirty="0"/>
              <a:t>(Conclusion &amp; Call to Action)</a:t>
            </a:r>
          </a:p>
          <a:p>
            <a:r>
              <a:rPr lang="en-US" altLang="zh-TW" b="1" dirty="0"/>
              <a:t>1. </a:t>
            </a:r>
            <a:r>
              <a:rPr lang="zh-TW" altLang="en-US" b="1" dirty="0"/>
              <a:t>核心洞察：能源民主化與企業動能</a:t>
            </a:r>
          </a:p>
          <a:p>
            <a:r>
              <a:rPr lang="zh-TW" altLang="en-US" b="1" dirty="0"/>
              <a:t>數據實證：</a:t>
            </a:r>
            <a:r>
              <a:rPr lang="zh-TW" altLang="en-US" dirty="0"/>
              <a:t> 透過 </a:t>
            </a:r>
            <a:r>
              <a:rPr lang="en-US" altLang="zh-TW" dirty="0"/>
              <a:t>Power BI </a:t>
            </a:r>
            <a:r>
              <a:rPr lang="zh-TW" altLang="en-US" dirty="0"/>
              <a:t>的主體分析，我們發現「自用發電設備」的潔淨能源成長率顯著高於傳統電廠。</a:t>
            </a:r>
          </a:p>
          <a:p>
            <a:r>
              <a:rPr lang="zh-TW" altLang="en-US" b="1" dirty="0"/>
              <a:t>洞察：</a:t>
            </a:r>
            <a:r>
              <a:rPr lang="zh-TW" altLang="en-US" dirty="0"/>
              <a:t> 台灣的能源轉型已從「政策驅動」轉向「產業驅動」。企業（如半導體產業）為了符合國際 </a:t>
            </a:r>
            <a:r>
              <a:rPr lang="en-US" altLang="zh-TW" dirty="0"/>
              <a:t>ESG </a:t>
            </a:r>
            <a:r>
              <a:rPr lang="zh-TW" altLang="en-US" dirty="0"/>
              <a:t>與 </a:t>
            </a:r>
            <a:r>
              <a:rPr lang="en-US" altLang="zh-TW" dirty="0"/>
              <a:t>RE100 </a:t>
            </a:r>
            <a:r>
              <a:rPr lang="zh-TW" altLang="en-US" dirty="0"/>
              <a:t>規範，已成為綠能發展的最強引擎。</a:t>
            </a:r>
          </a:p>
          <a:p>
            <a:r>
              <a:rPr lang="en-US" altLang="zh-TW" b="1" dirty="0"/>
              <a:t>2. </a:t>
            </a:r>
            <a:r>
              <a:rPr lang="zh-TW" altLang="en-US" b="1" dirty="0"/>
              <a:t>預測趨勢：黃金交叉後的穩定性挑戰</a:t>
            </a:r>
          </a:p>
          <a:p>
            <a:r>
              <a:rPr lang="zh-TW" altLang="en-US" b="1" dirty="0"/>
              <a:t>數據趨勢：</a:t>
            </a:r>
            <a:r>
              <a:rPr lang="zh-TW" altLang="en-US" dirty="0"/>
              <a:t> </a:t>
            </a:r>
            <a:r>
              <a:rPr lang="en-US" altLang="zh-TW" dirty="0"/>
              <a:t>2026 </a:t>
            </a:r>
            <a:r>
              <a:rPr lang="zh-TW" altLang="en-US" dirty="0"/>
              <a:t>年再生能源佔比正式銜接核能退場。</a:t>
            </a:r>
          </a:p>
          <a:p>
            <a:r>
              <a:rPr lang="zh-TW" altLang="en-US" b="1" dirty="0"/>
              <a:t>建議：</a:t>
            </a:r>
            <a:r>
              <a:rPr lang="zh-TW" altLang="en-US" dirty="0"/>
              <a:t> 隨著潔淨能源（特別是變動性高的光電與風電）佔比提升，「抽蓄水力」與「民間儲能系統」的調度數據將成為下一階段電網韌性的關鍵指標。</a:t>
            </a:r>
          </a:p>
          <a:p>
            <a:r>
              <a:rPr lang="en-US" altLang="zh-TW" b="1" dirty="0"/>
              <a:t>3. </a:t>
            </a:r>
            <a:r>
              <a:rPr lang="zh-TW" altLang="en-US" b="1" dirty="0"/>
              <a:t>技術價值：自動化監測管線 </a:t>
            </a:r>
            <a:r>
              <a:rPr lang="en-US" altLang="zh-TW" b="1" dirty="0"/>
              <a:t>(The Scalable Solution)</a:t>
            </a:r>
          </a:p>
          <a:p>
            <a:r>
              <a:rPr lang="zh-TW" altLang="en-US" b="1" dirty="0"/>
              <a:t>專案成果：</a:t>
            </a:r>
            <a:r>
              <a:rPr lang="zh-TW" altLang="en-US" dirty="0"/>
              <a:t> 本專案建立的 </a:t>
            </a:r>
            <a:r>
              <a:rPr lang="en-US" altLang="zh-TW" b="1" dirty="0"/>
              <a:t>ETL </a:t>
            </a:r>
            <a:r>
              <a:rPr lang="zh-TW" altLang="en-US" b="1" dirty="0"/>
              <a:t>自動化模型</a:t>
            </a:r>
            <a:r>
              <a:rPr lang="zh-TW" altLang="en-US" dirty="0"/>
              <a:t>，解決了長達 </a:t>
            </a:r>
            <a:r>
              <a:rPr lang="en-US" altLang="zh-TW" dirty="0"/>
              <a:t>20 </a:t>
            </a:r>
            <a:r>
              <a:rPr lang="zh-TW" altLang="en-US" dirty="0"/>
              <a:t>年、非對稱層級的複雜電力數據清洗難題。</a:t>
            </a:r>
          </a:p>
          <a:p>
            <a:r>
              <a:rPr lang="zh-TW" altLang="en-US" b="1" dirty="0"/>
              <a:t>擴充性：</a:t>
            </a:r>
            <a:r>
              <a:rPr lang="zh-TW" altLang="en-US" dirty="0"/>
              <a:t> 該模型具備高度擴充性，未來可直接串接台電 </a:t>
            </a:r>
            <a:r>
              <a:rPr lang="en-US" altLang="zh-TW" dirty="0"/>
              <a:t>API </a:t>
            </a:r>
            <a:r>
              <a:rPr lang="zh-TW" altLang="en-US" dirty="0"/>
              <a:t>或台積電等企業電力監測數據，實現即時的能源佔比監控。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877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E3594B-799E-9DB7-10AF-5F6E79A71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2D245-7BFF-56E4-1E1D-9FE302E3A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簡報最後一頁的標語 </a:t>
            </a:r>
            <a:r>
              <a:rPr lang="en-US" altLang="zh-TW" b="1" dirty="0"/>
              <a:t>(The Final Quote)</a:t>
            </a:r>
          </a:p>
          <a:p>
            <a:r>
              <a:rPr lang="zh-TW" altLang="en-US" dirty="0"/>
              <a:t>你可以用一句強而有力的話作為 </a:t>
            </a:r>
            <a:r>
              <a:rPr lang="en-US" altLang="zh-TW" dirty="0"/>
              <a:t>Ending</a:t>
            </a:r>
            <a:r>
              <a:rPr lang="zh-TW" altLang="en-US" dirty="0"/>
              <a:t>：</a:t>
            </a:r>
          </a:p>
          <a:p>
            <a:r>
              <a:rPr lang="zh-TW" altLang="en-US" b="1" dirty="0"/>
              <a:t>「數據不只是紀錄過去的產量，更是指引未來能源轉型路徑的導航儀。」</a:t>
            </a:r>
            <a:endParaRPr lang="zh-TW" altLang="en-US" dirty="0"/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🎨 簡報視覺建議 </a:t>
            </a:r>
            <a:r>
              <a:rPr lang="en-US" altLang="zh-TW" b="1" dirty="0"/>
              <a:t>(Visual Tips)</a:t>
            </a:r>
          </a:p>
          <a:p>
            <a:r>
              <a:rPr lang="zh-TW" altLang="en-US" dirty="0"/>
              <a:t>在講這一頁結語時，背景可以放一張你做出來的 </a:t>
            </a:r>
            <a:r>
              <a:rPr lang="zh-TW" altLang="en-US" b="1" dirty="0"/>
              <a:t>「潔淨能源佔比趨勢折線圖」</a:t>
            </a:r>
            <a:r>
              <a:rPr lang="zh-TW" altLang="en-US" dirty="0"/>
              <a:t>，但把透明度調高（變淡），上面疊加這三個結論。這樣會顯得非常專業且具備說服力。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0016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2235</Words>
  <Application>Microsoft Office PowerPoint</Application>
  <PresentationFormat>寬螢幕</PresentationFormat>
  <Paragraphs>125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Google Sans Text</vt:lpstr>
      <vt:lpstr>Arial</vt:lpstr>
      <vt:lpstr>Calibri</vt:lpstr>
      <vt:lpstr>Calibri Light</vt:lpstr>
      <vt:lpstr>Courier New</vt:lpstr>
      <vt:lpstr>Office 佈景主題</vt:lpstr>
      <vt:lpstr>《誰在推動綠能？——基於 Power BI 之台灣潔淨能源滲透率與經營主體動能研究》</vt:lpstr>
      <vt:lpstr>專案工時評估表 (Project Man-Hours)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專題資料處理技術報告 (ETL Summary)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Shou-Cheng Hu</dc:creator>
  <cp:lastModifiedBy>Shou-Cheng Hu</cp:lastModifiedBy>
  <cp:revision>1</cp:revision>
  <dcterms:created xsi:type="dcterms:W3CDTF">2026-03-21T12:56:33Z</dcterms:created>
  <dcterms:modified xsi:type="dcterms:W3CDTF">2026-03-21T12:56:57Z</dcterms:modified>
</cp:coreProperties>
</file>