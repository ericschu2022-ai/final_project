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62" r:id="rId4"/>
    <p:sldId id="263" r:id="rId5"/>
    <p:sldId id="264" r:id="rId6"/>
    <p:sldId id="265" r:id="rId7"/>
    <p:sldId id="272" r:id="rId8"/>
    <p:sldId id="274" r:id="rId9"/>
    <p:sldId id="275" r:id="rId10"/>
    <p:sldId id="276" r:id="rId11"/>
    <p:sldId id="273" r:id="rId12"/>
    <p:sldId id="277" r:id="rId13"/>
    <p:sldId id="266" r:id="rId14"/>
    <p:sldId id="267" r:id="rId15"/>
    <p:sldId id="268" r:id="rId16"/>
    <p:sldId id="257" r:id="rId17"/>
    <p:sldId id="258" r:id="rId18"/>
    <p:sldId id="259" r:id="rId19"/>
    <p:sldId id="260" r:id="rId20"/>
    <p:sldId id="261" r:id="rId21"/>
    <p:sldId id="270" r:id="rId22"/>
    <p:sldId id="271" r:id="rId23"/>
    <p:sldId id="278" r:id="rId2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0A05"/>
    <a:srgbClr val="0F1919"/>
    <a:srgbClr val="1E232D"/>
    <a:srgbClr val="0A0A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3" d="100"/>
          <a:sy n="73" d="100"/>
        </p:scale>
        <p:origin x="84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D847A2-6A30-83D3-5FB3-596088F11A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99FBEE2-5E8A-BFE5-2875-31020C7A4D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635339A-7B49-3065-8A0D-69C28AD5D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0EF91-A124-4443-A6AC-125C7A94C0BC}" type="datetimeFigureOut">
              <a:rPr lang="zh-TW" altLang="en-US" smtClean="0"/>
              <a:t>2026/3/31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F11A8CF-6D06-9E93-F00C-9ECC603E9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D83AE36-685C-A09B-1111-165D97010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A9374-360E-4349-B0E5-EECFA1EF57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3516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C5530-1288-080F-E734-B47F3B16B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532C784-577A-9216-B440-6B0928FD3B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5DA01D2-CC9F-093E-60EE-0291EF349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0EF91-A124-4443-A6AC-125C7A94C0BC}" type="datetimeFigureOut">
              <a:rPr lang="zh-TW" altLang="en-US" smtClean="0"/>
              <a:t>2026/3/31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2D1FD50-3CF5-FA88-85E7-F7A3827CE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08ACB85-E5FC-D063-7E6E-7472301C7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A9374-360E-4349-B0E5-EECFA1EF57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8842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B7A049-A382-4414-9BDD-8161E075A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9F2D25A-AA92-F33B-879E-43E36CB1CD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7DAEEFE-81AA-DD3D-1CFC-488D770C1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0EF91-A124-4443-A6AC-125C7A94C0BC}" type="datetimeFigureOut">
              <a:rPr lang="zh-TW" altLang="en-US" smtClean="0"/>
              <a:t>2026/3/31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B7E30D0-4C2B-F0AB-15B2-B67C5F434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E95C55-6C3F-1802-FE25-FA66CF7B2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A9374-360E-4349-B0E5-EECFA1EF57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9601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9F887A-ACBB-54C8-D52D-FA3B0CCA1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3DEC41-FC59-4793-2765-6371AA7AC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D4BC6AD-AF65-064D-C38A-8729DFB155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1CA9F71-5D6A-E1F3-DF33-C9F9DE645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0EF91-A124-4443-A6AC-125C7A94C0BC}" type="datetimeFigureOut">
              <a:rPr lang="zh-TW" altLang="en-US" smtClean="0"/>
              <a:t>2026/3/31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F2C0EB2-C91E-A06A-1BC8-E0CC4FBBD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17F8C0C-9F07-7A6B-354D-4AEF434F2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A9374-360E-4349-B0E5-EECFA1EF57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5607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49DB5B-DDD5-F0AE-04F4-31EFEDA27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F918752-D81A-6333-E32F-DBBBF14B1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00D4433-C3E7-01B0-C837-EA6A243A6D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AFD8956-B41A-986B-39E3-49345DB49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59ADD68-21CB-F842-A253-FD850E34B0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09BAB05-51B2-47A4-E7E9-D21617919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0EF91-A124-4443-A6AC-125C7A94C0BC}" type="datetimeFigureOut">
              <a:rPr lang="zh-TW" altLang="en-US" smtClean="0"/>
              <a:t>2026/3/31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199A803-1E99-3EF8-F460-CEA093A74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A59A1BB-E65F-F002-E178-882362403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A9374-360E-4349-B0E5-EECFA1EF57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7526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FBACB0-6AF7-D58A-ADF9-E57361AE0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E21BD64-0573-D39C-8176-F71A8A09A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0EF91-A124-4443-A6AC-125C7A94C0BC}" type="datetimeFigureOut">
              <a:rPr lang="zh-TW" altLang="en-US" smtClean="0"/>
              <a:t>2026/3/31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F3300F8-8BD1-6E91-BCCB-27A991D2D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6A6D904-2A59-9046-0C6B-0A1A49A8B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A9374-360E-4349-B0E5-EECFA1EF57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5044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5C152D7-C7FA-D033-F652-173A5023B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0EF91-A124-4443-A6AC-125C7A94C0BC}" type="datetimeFigureOut">
              <a:rPr lang="zh-TW" altLang="en-US" smtClean="0"/>
              <a:t>2026/3/31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3B829E9-AE37-BDF4-4D25-0E3A8A1C0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BF6BCD-C0A9-F2F2-73F8-DB3EC5AD2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A9374-360E-4349-B0E5-EECFA1EF57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037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FF82CD-36F1-B040-7FF6-798F54571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0B6140A-C08C-E02A-8126-542802FED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58455F1-2B65-4B69-8D9B-7E945F39C9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30E288A-34DE-7A7E-C227-72274CDE7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0EF91-A124-4443-A6AC-125C7A94C0BC}" type="datetimeFigureOut">
              <a:rPr lang="zh-TW" altLang="en-US" smtClean="0"/>
              <a:t>2026/3/31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9D3F896-A555-D631-63B3-B7F39848B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B6CA70B-74CA-6981-7B9E-F367E2E3E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A9374-360E-4349-B0E5-EECFA1EF57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4007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454614-D402-6690-74A6-13DE4B1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4756C04-053D-BFD9-8E98-3CD7805759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CA36813-B9BB-F854-392A-9D12FE1BAA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88CFA7C-B0D5-895E-4BD6-4A913241D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0EF91-A124-4443-A6AC-125C7A94C0BC}" type="datetimeFigureOut">
              <a:rPr lang="zh-TW" altLang="en-US" smtClean="0"/>
              <a:t>2026/3/31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7AEECF7-BA55-2C9C-6EDA-AE390BC99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26E0DAA-633D-90A3-6C6A-0588FDDBE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A9374-360E-4349-B0E5-EECFA1EF57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4102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221C65-E5C3-B9F9-1EAA-EFCC5C74F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859621F-C77E-E907-57F7-922A851447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6245EF-4842-9F78-8A45-C106CD154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0EF91-A124-4443-A6AC-125C7A94C0BC}" type="datetimeFigureOut">
              <a:rPr lang="zh-TW" altLang="en-US" smtClean="0"/>
              <a:t>2026/3/31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B5EA7CA-9FA9-47ED-376A-B478A55FD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6185F16-48FB-76C5-3D15-95BA47426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A9374-360E-4349-B0E5-EECFA1EF57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5899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37E85CC-3CA7-EC11-9A0C-CF9EF068D4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2547FF4-28D0-83D4-752D-EECE142A2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677406-96AA-1F5E-D6F4-17121A5F5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0EF91-A124-4443-A6AC-125C7A94C0BC}" type="datetimeFigureOut">
              <a:rPr lang="zh-TW" altLang="en-US" smtClean="0"/>
              <a:t>2026/3/31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BA89922-4AE6-B8C1-9C44-A8C5F3E94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D62836E-A23B-60A6-7A4D-A069A5BB8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A9374-360E-4349-B0E5-EECFA1EF57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7277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0B9139F-DFC8-7EE1-E272-81DC86CFD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09A8875-955B-6A7F-EDFC-F4C7A65B1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68CEC40-3292-3F32-4735-DB34B9E12E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0EF91-A124-4443-A6AC-125C7A94C0BC}" type="datetimeFigureOut">
              <a:rPr lang="zh-TW" altLang="en-US" smtClean="0"/>
              <a:t>2026/3/31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87C9458-7BA2-B1F5-45DF-C969E6DEF3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B79973C-7629-C151-53E7-C87ADB9184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5A9374-360E-4349-B0E5-EECFA1EF57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3099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BFE5D5-46B3-5E58-3D71-7736B78C41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《</a:t>
            </a:r>
            <a:r>
              <a:rPr lang="zh-TW" altLang="en-US" dirty="0"/>
              <a:t>誰在推動綠能？</a:t>
            </a:r>
            <a:r>
              <a:rPr lang="en-US" altLang="zh-TW" dirty="0"/>
              <a:t>——</a:t>
            </a:r>
            <a:r>
              <a:rPr lang="zh-TW" altLang="en-US" dirty="0"/>
              <a:t>基於 </a:t>
            </a:r>
            <a:r>
              <a:rPr lang="en-US" altLang="zh-TW" dirty="0"/>
              <a:t>Power BI </a:t>
            </a:r>
            <a:r>
              <a:rPr lang="zh-TW" altLang="en-US" dirty="0"/>
              <a:t>之台灣潔淨能源滲透率與經營主體動能研究</a:t>
            </a:r>
            <a:r>
              <a:rPr lang="en-US" altLang="zh-TW" dirty="0"/>
              <a:t>》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3F552F0-88A9-0E9F-1158-B193987EEB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2007-2026 </a:t>
            </a:r>
            <a:r>
              <a:rPr lang="zh-TW" altLang="en-US" dirty="0"/>
              <a:t>台灣潔淨能源佔比與自用發電設備崛起分析</a:t>
            </a:r>
          </a:p>
        </p:txBody>
      </p:sp>
    </p:spTree>
    <p:extLst>
      <p:ext uri="{BB962C8B-B14F-4D97-AF65-F5344CB8AC3E}">
        <p14:creationId xmlns:p14="http://schemas.microsoft.com/office/powerpoint/2010/main" val="301128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69685D-B218-FE4E-3523-F1F3353AC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專案工時評估表 </a:t>
            </a:r>
            <a:r>
              <a:rPr lang="en-US" altLang="zh-TW" dirty="0"/>
              <a:t>(Project Man-Hours)</a:t>
            </a:r>
            <a:endParaRPr lang="zh-TW" altLang="en-US" dirty="0"/>
          </a:p>
        </p:txBody>
      </p:sp>
      <p:graphicFrame>
        <p:nvGraphicFramePr>
          <p:cNvPr id="8" name="內容版面配置區 7">
            <a:extLst>
              <a:ext uri="{FF2B5EF4-FFF2-40B4-BE49-F238E27FC236}">
                <a16:creationId xmlns:a16="http://schemas.microsoft.com/office/drawing/2014/main" id="{66F13BDA-5B8A-0FEE-66EB-D309EB76703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89838" y="1825625"/>
          <a:ext cx="10212324" cy="4351339"/>
        </p:xfrm>
        <a:graphic>
          <a:graphicData uri="http://schemas.openxmlformats.org/drawingml/2006/table">
            <a:tbl>
              <a:tblPr/>
              <a:tblGrid>
                <a:gridCol w="3404108">
                  <a:extLst>
                    <a:ext uri="{9D8B030D-6E8A-4147-A177-3AD203B41FA5}">
                      <a16:colId xmlns:a16="http://schemas.microsoft.com/office/drawing/2014/main" val="2632568451"/>
                    </a:ext>
                  </a:extLst>
                </a:gridCol>
                <a:gridCol w="3404108">
                  <a:extLst>
                    <a:ext uri="{9D8B030D-6E8A-4147-A177-3AD203B41FA5}">
                      <a16:colId xmlns:a16="http://schemas.microsoft.com/office/drawing/2014/main" val="2655087408"/>
                    </a:ext>
                  </a:extLst>
                </a:gridCol>
                <a:gridCol w="3404108">
                  <a:extLst>
                    <a:ext uri="{9D8B030D-6E8A-4147-A177-3AD203B41FA5}">
                      <a16:colId xmlns:a16="http://schemas.microsoft.com/office/drawing/2014/main" val="3750760545"/>
                    </a:ext>
                  </a:extLst>
                </a:gridCol>
              </a:tblGrid>
              <a:tr h="355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700" b="1">
                          <a:effectLst/>
                          <a:latin typeface="Google Sans Text"/>
                        </a:rPr>
                        <a:t>階段</a:t>
                      </a:r>
                      <a:endParaRPr lang="zh-TW" altLang="en-US" sz="1700">
                        <a:effectLst/>
                        <a:latin typeface="Google Sans Text"/>
                      </a:endParaRPr>
                    </a:p>
                  </a:txBody>
                  <a:tcPr marL="88803" marR="88803" marT="44401" marB="4440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700" b="1">
                          <a:effectLst/>
                          <a:latin typeface="Google Sans Text"/>
                        </a:rPr>
                        <a:t>預估工時</a:t>
                      </a:r>
                      <a:endParaRPr lang="zh-TW" altLang="en-US" sz="1700">
                        <a:effectLst/>
                        <a:latin typeface="Google Sans Text"/>
                      </a:endParaRPr>
                    </a:p>
                  </a:txBody>
                  <a:tcPr marL="88803" marR="88803" marT="44401" marB="4440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700" b="1">
                          <a:effectLst/>
                          <a:latin typeface="Google Sans Text"/>
                        </a:rPr>
                        <a:t>關鍵任務</a:t>
                      </a:r>
                      <a:endParaRPr lang="zh-TW" altLang="en-US" sz="1700">
                        <a:effectLst/>
                        <a:latin typeface="Google Sans Text"/>
                      </a:endParaRPr>
                    </a:p>
                  </a:txBody>
                  <a:tcPr marL="88803" marR="88803" marT="44401" marB="4440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1855584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700" b="1">
                          <a:effectLst/>
                          <a:latin typeface="Google Sans Text"/>
                        </a:rPr>
                        <a:t>1. </a:t>
                      </a:r>
                      <a:r>
                        <a:rPr lang="zh-TW" altLang="en-US" sz="1700" b="1">
                          <a:effectLst/>
                          <a:latin typeface="Google Sans Text"/>
                        </a:rPr>
                        <a:t>需求定義與環境建置</a:t>
                      </a:r>
                      <a:endParaRPr lang="zh-TW" altLang="en-US" sz="1700">
                        <a:effectLst/>
                        <a:latin typeface="Google Sans Text"/>
                      </a:endParaRPr>
                    </a:p>
                  </a:txBody>
                  <a:tcPr marL="88803" marR="88803" marT="44401" marB="4440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effectLst/>
                          <a:latin typeface="Google Sans Text"/>
                        </a:rPr>
                        <a:t>4 hrs</a:t>
                      </a:r>
                    </a:p>
                  </a:txBody>
                  <a:tcPr marL="88803" marR="88803" marT="44401" marB="4440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700">
                          <a:effectLst/>
                          <a:latin typeface="Google Sans Text"/>
                        </a:rPr>
                        <a:t>定義「潔淨能源」口徑、匯入 </a:t>
                      </a:r>
                      <a:r>
                        <a:rPr lang="en-US" altLang="zh-TW" sz="1700">
                          <a:effectLst/>
                          <a:latin typeface="Google Sans Text"/>
                        </a:rPr>
                        <a:t>2007-2026 </a:t>
                      </a:r>
                      <a:r>
                        <a:rPr lang="zh-TW" altLang="en-US" sz="1700">
                          <a:effectLst/>
                          <a:latin typeface="Google Sans Text"/>
                        </a:rPr>
                        <a:t>原始數據。</a:t>
                      </a:r>
                    </a:p>
                  </a:txBody>
                  <a:tcPr marL="88803" marR="88803" marT="44401" marB="4440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7952407"/>
                  </a:ext>
                </a:extLst>
              </a:tr>
              <a:tr h="8880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700" b="1">
                          <a:effectLst/>
                          <a:latin typeface="Google Sans Text"/>
                        </a:rPr>
                        <a:t>2. ETL </a:t>
                      </a:r>
                      <a:r>
                        <a:rPr lang="zh-TW" altLang="en-US" sz="1700" b="1">
                          <a:effectLst/>
                          <a:latin typeface="Google Sans Text"/>
                        </a:rPr>
                        <a:t>資料清洗與架構重塑</a:t>
                      </a:r>
                      <a:endParaRPr lang="zh-TW" altLang="en-US" sz="1700">
                        <a:effectLst/>
                        <a:latin typeface="Google Sans Text"/>
                      </a:endParaRPr>
                    </a:p>
                  </a:txBody>
                  <a:tcPr marL="88803" marR="88803" marT="44401" marB="4440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effectLst/>
                          <a:latin typeface="Google Sans Text"/>
                        </a:rPr>
                        <a:t>12 hrs</a:t>
                      </a:r>
                    </a:p>
                  </a:txBody>
                  <a:tcPr marL="88803" marR="88803" marT="44401" marB="4440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700" b="1">
                          <a:effectLst/>
                          <a:latin typeface="Google Sans Text"/>
                        </a:rPr>
                        <a:t>最耗時階段</a:t>
                      </a:r>
                      <a:r>
                        <a:rPr lang="zh-TW" altLang="en-US" sz="1700">
                          <a:effectLst/>
                          <a:latin typeface="Google Sans Text"/>
                        </a:rPr>
                        <a:t>。包含 </a:t>
                      </a:r>
                      <a:r>
                        <a:rPr lang="en-US" altLang="zh-TW" sz="1700">
                          <a:effectLst/>
                          <a:latin typeface="Google Sans Text"/>
                        </a:rPr>
                        <a:t>Unpivot</a:t>
                      </a:r>
                      <a:r>
                        <a:rPr lang="zh-TW" altLang="en-US" sz="1700">
                          <a:effectLst/>
                          <a:latin typeface="Google Sans Text"/>
                        </a:rPr>
                        <a:t>、拆分維度、處理核能兩層級邏輯、雜訊過濾。</a:t>
                      </a:r>
                    </a:p>
                  </a:txBody>
                  <a:tcPr marL="88803" marR="88803" marT="44401" marB="4440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1223393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700" b="1">
                          <a:effectLst/>
                          <a:latin typeface="Google Sans Text"/>
                        </a:rPr>
                        <a:t>3. DAX </a:t>
                      </a:r>
                      <a:r>
                        <a:rPr lang="zh-TW" altLang="en-US" sz="1700" b="1">
                          <a:effectLst/>
                          <a:latin typeface="Google Sans Text"/>
                        </a:rPr>
                        <a:t>建模與邏輯校正</a:t>
                      </a:r>
                      <a:endParaRPr lang="zh-TW" altLang="en-US" sz="1700">
                        <a:effectLst/>
                        <a:latin typeface="Google Sans Text"/>
                      </a:endParaRPr>
                    </a:p>
                  </a:txBody>
                  <a:tcPr marL="88803" marR="88803" marT="44401" marB="4440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effectLst/>
                          <a:latin typeface="Google Sans Text"/>
                        </a:rPr>
                        <a:t>8 hrs</a:t>
                      </a:r>
                    </a:p>
                  </a:txBody>
                  <a:tcPr marL="88803" marR="88803" marT="44401" marB="4440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700">
                          <a:effectLst/>
                          <a:latin typeface="Google Sans Text"/>
                        </a:rPr>
                        <a:t>撰寫「潔淨能源佔比 </a:t>
                      </a:r>
                      <a:r>
                        <a:rPr lang="en-US" altLang="zh-TW" sz="1700">
                          <a:effectLst/>
                          <a:latin typeface="Google Sans Text"/>
                        </a:rPr>
                        <a:t>%</a:t>
                      </a:r>
                      <a:r>
                        <a:rPr lang="zh-TW" altLang="en-US" sz="1700">
                          <a:effectLst/>
                          <a:latin typeface="Google Sans Text"/>
                        </a:rPr>
                        <a:t>」、「同環比成長率」等動態計算公式。</a:t>
                      </a:r>
                    </a:p>
                  </a:txBody>
                  <a:tcPr marL="88803" marR="88803" marT="44401" marB="4440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1876084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700" b="1">
                          <a:effectLst/>
                          <a:latin typeface="Google Sans Text"/>
                        </a:rPr>
                        <a:t>4. </a:t>
                      </a:r>
                      <a:r>
                        <a:rPr lang="zh-TW" altLang="en-US" sz="1700" b="1">
                          <a:effectLst/>
                          <a:latin typeface="Google Sans Text"/>
                        </a:rPr>
                        <a:t>視覺化儀表板設計</a:t>
                      </a:r>
                      <a:endParaRPr lang="zh-TW" altLang="en-US" sz="1700">
                        <a:effectLst/>
                        <a:latin typeface="Google Sans Text"/>
                      </a:endParaRPr>
                    </a:p>
                  </a:txBody>
                  <a:tcPr marL="88803" marR="88803" marT="44401" marB="4440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effectLst/>
                          <a:latin typeface="Google Sans Text"/>
                        </a:rPr>
                        <a:t>8 hrs</a:t>
                      </a:r>
                    </a:p>
                  </a:txBody>
                  <a:tcPr marL="88803" marR="88803" marT="44401" marB="4440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700">
                          <a:effectLst/>
                          <a:latin typeface="Google Sans Text"/>
                        </a:rPr>
                        <a:t>建立趨勢面積圖、主體對比圖、切片器互動邏輯。</a:t>
                      </a:r>
                    </a:p>
                  </a:txBody>
                  <a:tcPr marL="88803" marR="88803" marT="44401" marB="4440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6512248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700" b="1">
                          <a:effectLst/>
                          <a:latin typeface="Google Sans Text"/>
                        </a:rPr>
                        <a:t>5. </a:t>
                      </a:r>
                      <a:r>
                        <a:rPr lang="zh-TW" altLang="en-US" sz="1700" b="1">
                          <a:effectLst/>
                          <a:latin typeface="Google Sans Text"/>
                        </a:rPr>
                        <a:t>簡報產出與洞察總結</a:t>
                      </a:r>
                      <a:endParaRPr lang="zh-TW" altLang="en-US" sz="1700">
                        <a:effectLst/>
                        <a:latin typeface="Google Sans Text"/>
                      </a:endParaRPr>
                    </a:p>
                  </a:txBody>
                  <a:tcPr marL="88803" marR="88803" marT="44401" marB="4440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effectLst/>
                          <a:latin typeface="Google Sans Text"/>
                        </a:rPr>
                        <a:t>8 hrs</a:t>
                      </a:r>
                    </a:p>
                  </a:txBody>
                  <a:tcPr marL="88803" marR="88803" marT="44401" marB="4440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700">
                          <a:effectLst/>
                          <a:latin typeface="Google Sans Text"/>
                        </a:rPr>
                        <a:t>撰寫 </a:t>
                      </a:r>
                      <a:r>
                        <a:rPr lang="en-US" altLang="zh-TW" sz="1700">
                          <a:effectLst/>
                          <a:latin typeface="Google Sans Text"/>
                        </a:rPr>
                        <a:t>ETL </a:t>
                      </a:r>
                      <a:r>
                        <a:rPr lang="zh-TW" altLang="en-US" sz="1700">
                          <a:effectLst/>
                          <a:latin typeface="Google Sans Text"/>
                        </a:rPr>
                        <a:t>技術紀錄、提煉數據發現、製作最終簡報。</a:t>
                      </a:r>
                    </a:p>
                  </a:txBody>
                  <a:tcPr marL="88803" marR="88803" marT="44401" marB="4440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1239929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700" b="1">
                          <a:effectLst/>
                          <a:latin typeface="Google Sans Text"/>
                        </a:rPr>
                        <a:t>總計 </a:t>
                      </a:r>
                      <a:r>
                        <a:rPr lang="en-US" altLang="zh-TW" sz="1700" b="1">
                          <a:effectLst/>
                          <a:latin typeface="Google Sans Text"/>
                        </a:rPr>
                        <a:t>(</a:t>
                      </a:r>
                      <a:r>
                        <a:rPr lang="en-US" sz="1700" b="1">
                          <a:effectLst/>
                          <a:latin typeface="Google Sans Text"/>
                        </a:rPr>
                        <a:t>Total)</a:t>
                      </a:r>
                      <a:endParaRPr lang="en-US" sz="1700">
                        <a:effectLst/>
                        <a:latin typeface="Google Sans Text"/>
                      </a:endParaRPr>
                    </a:p>
                  </a:txBody>
                  <a:tcPr marL="88803" marR="88803" marT="44401" marB="4440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>
                          <a:effectLst/>
                          <a:latin typeface="Google Sans Text"/>
                        </a:rPr>
                        <a:t>40 hrs</a:t>
                      </a:r>
                      <a:endParaRPr lang="en-US" sz="1700">
                        <a:effectLst/>
                        <a:latin typeface="Google Sans Text"/>
                      </a:endParaRPr>
                    </a:p>
                  </a:txBody>
                  <a:tcPr marL="88803" marR="88803" marT="44401" marB="4440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700" b="1" dirty="0">
                          <a:effectLst/>
                          <a:latin typeface="Google Sans Text"/>
                        </a:rPr>
                        <a:t>相當於一位資料分析師一整週的工作量。</a:t>
                      </a:r>
                      <a:endParaRPr lang="zh-TW" altLang="en-US" sz="1700" dirty="0">
                        <a:effectLst/>
                        <a:latin typeface="Google Sans Text"/>
                      </a:endParaRPr>
                    </a:p>
                  </a:txBody>
                  <a:tcPr marL="88803" marR="88803" marT="44401" marB="4440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068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0654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DACC78-CBB2-3787-B823-291F8241A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F7A3E59-3BB9-EEA8-50DA-96752D7E2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/>
              <a:t>1. </a:t>
            </a:r>
            <a:r>
              <a:rPr lang="zh-TW" altLang="en-US" b="1" dirty="0"/>
              <a:t>專題定名與目標設定 </a:t>
            </a:r>
            <a:r>
              <a:rPr lang="en-US" altLang="zh-TW" b="1" dirty="0"/>
              <a:t>(Project Initiation)</a:t>
            </a:r>
          </a:p>
          <a:p>
            <a:r>
              <a:rPr lang="zh-TW" altLang="en-US" b="1" dirty="0"/>
              <a:t>核心指標定義：</a:t>
            </a:r>
            <a:r>
              <a:rPr lang="zh-TW" altLang="en-US" dirty="0"/>
              <a:t> 確立「潔淨能源佔比 </a:t>
            </a:r>
            <a:r>
              <a:rPr lang="en-US" altLang="zh-TW" dirty="0"/>
              <a:t>(%)</a:t>
            </a:r>
            <a:r>
              <a:rPr lang="zh-TW" altLang="en-US" dirty="0"/>
              <a:t>」為衡量基準。</a:t>
            </a:r>
          </a:p>
          <a:p>
            <a:r>
              <a:rPr lang="zh-TW" altLang="en-US" b="1" dirty="0"/>
              <a:t>研究假設：</a:t>
            </a:r>
            <a:r>
              <a:rPr lang="zh-TW" altLang="en-US" dirty="0"/>
              <a:t> * 假設一：再生能源已達成超越核能的結構性轉折（方向四）。</a:t>
            </a:r>
          </a:p>
          <a:p>
            <a:pPr lvl="1"/>
            <a:r>
              <a:rPr lang="zh-TW" altLang="en-US" dirty="0"/>
              <a:t>假設二：自用發電設備（企業</a:t>
            </a:r>
            <a:r>
              <a:rPr lang="en-US" altLang="zh-TW" dirty="0"/>
              <a:t>/</a:t>
            </a:r>
            <a:r>
              <a:rPr lang="zh-TW" altLang="en-US" dirty="0"/>
              <a:t>民間）的綠能成長率優於傳統電廠（方向三）。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05797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20311E-88F8-484E-A0F8-CEC3B71D2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D6054AB-720F-3167-4CF2-8DA29EB44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57753"/>
          </a:xfrm>
        </p:spPr>
        <p:txBody>
          <a:bodyPr/>
          <a:lstStyle/>
          <a:p>
            <a:r>
              <a:rPr lang="en-US" altLang="zh-TW" b="1" dirty="0"/>
              <a:t>2. </a:t>
            </a:r>
            <a:r>
              <a:rPr lang="zh-TW" altLang="en-US" b="1" dirty="0"/>
              <a:t>資料收集與初步探索 </a:t>
            </a:r>
            <a:r>
              <a:rPr lang="en-US" altLang="zh-TW" b="1" dirty="0"/>
              <a:t>(Data Sourcing)</a:t>
            </a:r>
          </a:p>
          <a:p>
            <a:r>
              <a:rPr lang="zh-TW" altLang="en-US" b="1" dirty="0"/>
              <a:t>來源：</a:t>
            </a:r>
            <a:r>
              <a:rPr lang="zh-TW" altLang="en-US" dirty="0"/>
              <a:t> 擷取全國、台電、民營及自用發電設備之 </a:t>
            </a:r>
            <a:r>
              <a:rPr lang="en-US" altLang="zh-TW" dirty="0"/>
              <a:t>20 </a:t>
            </a:r>
            <a:r>
              <a:rPr lang="zh-TW" altLang="en-US" dirty="0"/>
              <a:t>年歷史月度數據。</a:t>
            </a:r>
          </a:p>
          <a:p>
            <a:r>
              <a:rPr lang="zh-TW" altLang="en-US" b="1" dirty="0"/>
              <a:t>特徵：</a:t>
            </a:r>
            <a:r>
              <a:rPr lang="zh-TW" altLang="en-US" dirty="0"/>
              <a:t> 處理包含 </a:t>
            </a:r>
            <a:r>
              <a:rPr lang="en-US" altLang="zh-TW" dirty="0"/>
              <a:t>50+ </a:t>
            </a:r>
            <a:r>
              <a:rPr lang="zh-TW" altLang="en-US" dirty="0"/>
              <a:t>欄位的複雜寬表格式。</a:t>
            </a:r>
          </a:p>
          <a:p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FE5E3F6-6908-F65E-5A6B-3095253E5412}"/>
              </a:ext>
            </a:extLst>
          </p:cNvPr>
          <p:cNvSpPr txBox="1"/>
          <p:nvPr/>
        </p:nvSpPr>
        <p:spPr>
          <a:xfrm>
            <a:off x="1535289" y="401831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/>
              <a:t>「</a:t>
            </a:r>
            <a:r>
              <a:rPr lang="zh-TW" altLang="en-US" b="1" dirty="0"/>
              <a:t>數據說明：</a:t>
            </a:r>
            <a:r>
              <a:rPr lang="zh-TW" altLang="en-US" dirty="0"/>
              <a:t> 本研究之</a:t>
            </a:r>
            <a:r>
              <a:rPr lang="en-US" altLang="zh-TW" dirty="0"/>
              <a:t>『</a:t>
            </a:r>
            <a:r>
              <a:rPr lang="zh-TW" altLang="en-US" dirty="0"/>
              <a:t>民間自用</a:t>
            </a:r>
            <a:r>
              <a:rPr lang="en-US" altLang="zh-TW" dirty="0"/>
              <a:t>』</a:t>
            </a:r>
            <a:r>
              <a:rPr lang="zh-TW" altLang="en-US" dirty="0"/>
              <a:t>數據源自台電併網統計與能源署備案資料，涵蓋工業、農業及住宅之自用發電設備。增幅之計算基礎為正式申報之發電量，反映了台灣分散式電力系統的實質滲透程度。」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040D312-4C5E-4C01-E6D5-FFE282077E1E}"/>
              </a:ext>
            </a:extLst>
          </p:cNvPr>
          <p:cNvSpPr txBox="1"/>
          <p:nvPr/>
        </p:nvSpPr>
        <p:spPr>
          <a:xfrm>
            <a:off x="1535289" y="5518414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「民營電廠的角色已從早期的</a:t>
            </a:r>
            <a:r>
              <a:rPr lang="en-US" altLang="zh-TW" dirty="0"/>
              <a:t>『</a:t>
            </a:r>
            <a:r>
              <a:rPr lang="zh-TW" altLang="en-US" dirty="0"/>
              <a:t>火力補充</a:t>
            </a:r>
            <a:r>
              <a:rPr lang="en-US" altLang="zh-TW" dirty="0"/>
              <a:t>』</a:t>
            </a:r>
            <a:r>
              <a:rPr lang="zh-TW" altLang="en-US" dirty="0"/>
              <a:t>轉型為</a:t>
            </a:r>
            <a:r>
              <a:rPr lang="en-US" altLang="zh-TW" dirty="0"/>
              <a:t>『</a:t>
            </a:r>
            <a:r>
              <a:rPr lang="zh-TW" altLang="en-US" dirty="0"/>
              <a:t>綠能主力</a:t>
            </a:r>
            <a:r>
              <a:rPr lang="en-US" altLang="zh-TW" dirty="0"/>
              <a:t>』</a:t>
            </a:r>
            <a:r>
              <a:rPr lang="zh-TW" altLang="en-US" dirty="0"/>
              <a:t>。研究數據顯示，民營綠能在 </a:t>
            </a:r>
            <a:r>
              <a:rPr lang="en-US" altLang="zh-TW" dirty="0"/>
              <a:t>2017-2025 </a:t>
            </a:r>
            <a:r>
              <a:rPr lang="zh-TW" altLang="en-US" dirty="0"/>
              <a:t>年間的爆發式增長，主要受益於離岸風電與大型光電場的併網，其規模化效應明顯高於分散式的民間自用設備。」</a:t>
            </a:r>
          </a:p>
        </p:txBody>
      </p:sp>
    </p:spTree>
    <p:extLst>
      <p:ext uri="{BB962C8B-B14F-4D97-AF65-F5344CB8AC3E}">
        <p14:creationId xmlns:p14="http://schemas.microsoft.com/office/powerpoint/2010/main" val="2418113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2C3D54-D013-3D96-52E6-025EC12EB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C3906B9-9A0F-CA4D-EDEE-B2800E7B9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/>
              <a:t>3. </a:t>
            </a:r>
            <a:r>
              <a:rPr lang="zh-TW" altLang="en-US" b="1" dirty="0"/>
              <a:t>資料自動化清洗與重組 </a:t>
            </a:r>
            <a:r>
              <a:rPr lang="en-US" altLang="zh-TW" b="1" dirty="0"/>
              <a:t>(ETL Process)</a:t>
            </a:r>
          </a:p>
          <a:p>
            <a:r>
              <a:rPr lang="zh-TW" altLang="en-US" b="1" dirty="0"/>
              <a:t>結構重塑：</a:t>
            </a:r>
            <a:r>
              <a:rPr lang="zh-TW" altLang="en-US" dirty="0"/>
              <a:t> 執行 </a:t>
            </a:r>
            <a:r>
              <a:rPr lang="en-US" altLang="zh-TW" b="1" dirty="0"/>
              <a:t>Unpivot (</a:t>
            </a:r>
            <a:r>
              <a:rPr lang="zh-TW" altLang="en-US" b="1" dirty="0"/>
              <a:t>取消樞紐</a:t>
            </a:r>
            <a:r>
              <a:rPr lang="en-US" altLang="zh-TW" b="1" dirty="0"/>
              <a:t>)</a:t>
            </a:r>
            <a:r>
              <a:rPr lang="zh-TW" altLang="en-US" dirty="0"/>
              <a:t> 將寬表轉為標準分析長表。</a:t>
            </a:r>
          </a:p>
          <a:p>
            <a:r>
              <a:rPr lang="zh-TW" altLang="en-US" b="1" dirty="0"/>
              <a:t>維度拆分：</a:t>
            </a:r>
            <a:r>
              <a:rPr lang="zh-TW" altLang="en-US" dirty="0"/>
              <a:t> 透過分隔符號拆解出 </a:t>
            </a:r>
            <a:r>
              <a:rPr lang="en-US" altLang="zh-TW" dirty="0"/>
              <a:t>[</a:t>
            </a:r>
            <a:r>
              <a:rPr lang="zh-TW" altLang="en-US" dirty="0"/>
              <a:t>經營主體</a:t>
            </a:r>
            <a:r>
              <a:rPr lang="en-US" altLang="zh-TW" dirty="0"/>
              <a:t>]</a:t>
            </a:r>
            <a:r>
              <a:rPr lang="zh-TW" altLang="en-US" dirty="0"/>
              <a:t>、</a:t>
            </a:r>
            <a:r>
              <a:rPr lang="en-US" altLang="zh-TW" dirty="0"/>
              <a:t>[</a:t>
            </a:r>
            <a:r>
              <a:rPr lang="zh-TW" altLang="en-US" dirty="0"/>
              <a:t>能源大類</a:t>
            </a:r>
            <a:r>
              <a:rPr lang="en-US" altLang="zh-TW" dirty="0"/>
              <a:t>]</a:t>
            </a:r>
            <a:r>
              <a:rPr lang="zh-TW" altLang="en-US" dirty="0"/>
              <a:t>、</a:t>
            </a:r>
            <a:r>
              <a:rPr lang="en-US" altLang="zh-TW" dirty="0"/>
              <a:t>[</a:t>
            </a:r>
            <a:r>
              <a:rPr lang="zh-TW" altLang="en-US" dirty="0"/>
              <a:t>能源細項</a:t>
            </a:r>
            <a:r>
              <a:rPr lang="en-US" altLang="zh-TW" dirty="0"/>
              <a:t>]</a:t>
            </a:r>
            <a:r>
              <a:rPr lang="zh-TW" altLang="en-US" dirty="0"/>
              <a:t>。</a:t>
            </a:r>
          </a:p>
          <a:p>
            <a:r>
              <a:rPr lang="zh-TW" altLang="en-US" b="1" dirty="0"/>
              <a:t>數據淨化：</a:t>
            </a:r>
            <a:r>
              <a:rPr lang="zh-TW" altLang="en-US" dirty="0"/>
              <a:t> 批次移除雜訊文字 </a:t>
            </a:r>
            <a:r>
              <a:rPr lang="en-US" altLang="zh-TW" dirty="0"/>
              <a:t>(</a:t>
            </a:r>
            <a:r>
              <a:rPr lang="zh-TW" altLang="en-US" dirty="0"/>
              <a:t>數值</a:t>
            </a:r>
            <a:r>
              <a:rPr lang="en-US" altLang="zh-TW" dirty="0"/>
              <a:t>)</a:t>
            </a:r>
            <a:r>
              <a:rPr lang="zh-TW" altLang="en-US" dirty="0"/>
              <a:t> 並進行字串修剪 </a:t>
            </a:r>
            <a:r>
              <a:rPr lang="en-US" altLang="zh-TW" dirty="0"/>
              <a:t>(Trim)</a:t>
            </a:r>
            <a:r>
              <a:rPr lang="zh-TW" altLang="en-US" dirty="0"/>
              <a:t>。</a:t>
            </a:r>
          </a:p>
          <a:p>
            <a:r>
              <a:rPr lang="zh-TW" altLang="en-US" b="1" dirty="0"/>
              <a:t>邏輯建模：</a:t>
            </a:r>
            <a:r>
              <a:rPr lang="zh-TW" altLang="en-US" dirty="0"/>
              <a:t> 建立 </a:t>
            </a:r>
            <a:r>
              <a:rPr lang="zh-TW" altLang="en-US" b="1" dirty="0"/>
              <a:t>「條件式資料行」</a:t>
            </a:r>
            <a:r>
              <a:rPr lang="zh-TW" altLang="en-US" dirty="0"/>
              <a:t> 自動判斷「潔淨能源」歸類。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12610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0445BC-1AF8-E503-D0B2-2FAA1753B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C6848B3-CBFC-50E7-B178-F7F9FA845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/>
              <a:t>4. </a:t>
            </a:r>
            <a:r>
              <a:rPr lang="zh-TW" altLang="en-US" b="1" dirty="0"/>
              <a:t>深度資料分析 </a:t>
            </a:r>
            <a:r>
              <a:rPr lang="en-US" altLang="zh-TW" b="1" dirty="0"/>
              <a:t>(Data Insights &amp; Analytics)</a:t>
            </a:r>
          </a:p>
          <a:p>
            <a:r>
              <a:rPr lang="zh-TW" altLang="en-US" b="1" dirty="0"/>
              <a:t>交叉點發現：</a:t>
            </a:r>
            <a:r>
              <a:rPr lang="zh-TW" altLang="en-US" dirty="0"/>
              <a:t> 鎖定不同能源類別的「黃金交叉」時刻。</a:t>
            </a:r>
          </a:p>
          <a:p>
            <a:r>
              <a:rPr lang="zh-TW" altLang="en-US" b="1" dirty="0"/>
              <a:t>貢獻度對比：</a:t>
            </a:r>
            <a:r>
              <a:rPr lang="zh-TW" altLang="en-US" dirty="0"/>
              <a:t> 計算台電 </a:t>
            </a:r>
            <a:r>
              <a:rPr lang="en-US" altLang="zh-TW" dirty="0"/>
              <a:t>vs. </a:t>
            </a:r>
            <a:r>
              <a:rPr lang="zh-TW" altLang="en-US" dirty="0"/>
              <a:t>民營 </a:t>
            </a:r>
            <a:r>
              <a:rPr lang="en-US" altLang="zh-TW" dirty="0"/>
              <a:t>vs. </a:t>
            </a:r>
            <a:r>
              <a:rPr lang="zh-TW" altLang="en-US" dirty="0"/>
              <a:t>自用在潔淨能源上的貢獻佔比。</a:t>
            </a:r>
          </a:p>
          <a:p>
            <a:r>
              <a:rPr lang="zh-TW" altLang="en-US" b="1" dirty="0"/>
              <a:t>季節性分析：</a:t>
            </a:r>
            <a:r>
              <a:rPr lang="zh-TW" altLang="en-US" dirty="0"/>
              <a:t> 觀察發電結構在冬夏季的韌性與差異。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0084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AF05EE-A011-130D-84D5-615C1D8BF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AACC420-ECC0-F2E1-4707-3F59CAA33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b="1" dirty="0"/>
              <a:t>為什麼 </a:t>
            </a:r>
            <a:r>
              <a:rPr lang="en-US" altLang="zh-TW" b="1" dirty="0"/>
              <a:t>2013-2017 </a:t>
            </a:r>
            <a:r>
              <a:rPr lang="zh-TW" altLang="en-US" b="1" dirty="0"/>
              <a:t>會跌得這麼厲害？</a:t>
            </a:r>
          </a:p>
          <a:p>
            <a:r>
              <a:rPr lang="zh-TW" altLang="en-US" dirty="0"/>
              <a:t>這段時間的「潔淨能源佔比」下降，通常是因為 </a:t>
            </a:r>
            <a:r>
              <a:rPr lang="zh-TW" altLang="en-US" b="1" dirty="0"/>
              <a:t>「舊動能消失，新動能還沒跟上」</a:t>
            </a:r>
            <a:r>
              <a:rPr lang="zh-TW" altLang="en-US" dirty="0"/>
              <a:t> 的斷層期：</a:t>
            </a:r>
          </a:p>
          <a:p>
            <a:r>
              <a:rPr lang="zh-TW" altLang="en-US" b="1" dirty="0"/>
              <a:t>核能除役與停機 </a:t>
            </a:r>
            <a:r>
              <a:rPr lang="en-US" altLang="zh-TW" b="1" dirty="0"/>
              <a:t>(</a:t>
            </a:r>
            <a:r>
              <a:rPr lang="zh-TW" altLang="en-US" b="1" dirty="0"/>
              <a:t>舊動能撤退</a:t>
            </a:r>
            <a:r>
              <a:rPr lang="en-US" altLang="zh-TW" b="1" dirty="0"/>
              <a:t>)</a:t>
            </a:r>
            <a:r>
              <a:rPr lang="zh-TW" altLang="en-US" b="1" dirty="0"/>
              <a:t>：</a:t>
            </a:r>
            <a:r>
              <a:rPr lang="zh-TW" altLang="en-US" dirty="0"/>
              <a:t> 那幾年正好是核一、核二廠機組陸續因屆期或歲修停機的頻繁期。因為當時「潔淨能源」的分母很大一部分是核能，一旦核能發電量減少，佔比就會掉得很驚人。</a:t>
            </a:r>
          </a:p>
          <a:p>
            <a:r>
              <a:rPr lang="zh-TW" altLang="en-US" b="1" dirty="0"/>
              <a:t>火力發電補缺口：</a:t>
            </a:r>
            <a:r>
              <a:rPr lang="zh-TW" altLang="en-US" dirty="0"/>
              <a:t> 為了彌補核能留下的電力缺口，那幾年傳統火力（燃煤、燃氣）的發電量通常會衝高，導致潔淨能源的「相對比例」被稀釋。</a:t>
            </a:r>
          </a:p>
          <a:p>
            <a:r>
              <a:rPr lang="zh-TW" altLang="en-US" b="1" dirty="0"/>
              <a:t>再生能源還在「蹲點」：</a:t>
            </a:r>
            <a:r>
              <a:rPr lang="zh-TW" altLang="en-US" dirty="0"/>
              <a:t> </a:t>
            </a:r>
            <a:r>
              <a:rPr lang="en-US" altLang="zh-TW" dirty="0"/>
              <a:t>2013-2016 </a:t>
            </a:r>
            <a:r>
              <a:rPr lang="zh-TW" altLang="en-US" dirty="0"/>
              <a:t>年間，大規模的光電與離岸風電政策才剛起步，發電貢獻還不足以抵銷核能的減量。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65965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2BE357-F0A7-E486-570D-8AE67608D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F7730FA-AD09-8D54-E7A6-BE94BC1E21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253331"/>
            <a:ext cx="10515600" cy="435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第一頁：現況總覽 (The Big Picture)</a:t>
            </a: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展示「全台潔淨能源滲透率」。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亮點：</a:t>
            </a: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指出你剛發現的 </a:t>
            </a: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2017 年觸底反彈</a:t>
            </a: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現象。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第二頁：主體消長 (Who's Doing What?)</a:t>
            </a: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展示「經營主體發電量堆疊圖」。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亮點：</a:t>
            </a: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看到台電、民營、自用設備在總量上的佔比演變。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第三頁：動能研究 (The Engine of Growth)</a:t>
            </a: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這就是我們要做的這頁！</a:t>
            </a: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展示「自用綠能 vs. 其他主體」的 </a:t>
            </a: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成長率 (YoY%)</a:t>
            </a: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或 </a:t>
            </a: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貢獻度折線</a:t>
            </a: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亮點：</a:t>
            </a: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解釋為什麼 2017 年後能反彈？答案是「自用設備」的動能噴發。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529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6B156F-5280-2B66-542D-C27291886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EEE1DF6-7D04-E201-AF6D-9498E0628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當你在巨匠做專題簡報時，這樣的順序非常有說服力：</a:t>
            </a:r>
          </a:p>
          <a:p>
            <a:r>
              <a:rPr lang="zh-TW" altLang="en-US" dirty="0"/>
              <a:t>先說：「台灣綠能在 </a:t>
            </a:r>
            <a:r>
              <a:rPr lang="en-US" altLang="zh-TW" dirty="0"/>
              <a:t>2017 </a:t>
            </a:r>
            <a:r>
              <a:rPr lang="zh-TW" altLang="en-US" dirty="0"/>
              <a:t>年掉到谷底。」（第一頁）</a:t>
            </a:r>
          </a:p>
          <a:p>
            <a:r>
              <a:rPr lang="zh-TW" altLang="en-US" dirty="0"/>
              <a:t>再問：「是誰把它拉起來的？」（第二頁）</a:t>
            </a:r>
          </a:p>
          <a:p>
            <a:r>
              <a:rPr lang="zh-TW" altLang="en-US" dirty="0"/>
              <a:t>最後證明：「看這條線，</a:t>
            </a:r>
            <a:r>
              <a:rPr lang="zh-TW" altLang="en-US" b="1" dirty="0"/>
              <a:t>自用設備</a:t>
            </a:r>
            <a:r>
              <a:rPr lang="zh-TW" altLang="en-US" dirty="0"/>
              <a:t> 的動能是所有主體中最強的！」（第三頁）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46858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2CDDA6-70CA-92BD-7CB0-ECC9E03D9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F08B5EC-FE21-E533-A5FE-493D4A804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zh-TW" altLang="en-US" b="1" dirty="0"/>
              <a:t>第一頁：開場介紹劇本 </a:t>
            </a:r>
            <a:r>
              <a:rPr lang="en-US" altLang="zh-TW" b="1" dirty="0"/>
              <a:t>(</a:t>
            </a:r>
            <a:r>
              <a:rPr lang="zh-TW" altLang="en-US" b="1" dirty="0"/>
              <a:t>三部曲</a:t>
            </a:r>
            <a:r>
              <a:rPr lang="en-US" altLang="zh-TW" b="1" dirty="0"/>
              <a:t>)</a:t>
            </a:r>
          </a:p>
          <a:p>
            <a:r>
              <a:rPr lang="zh-TW" altLang="en-US" b="1" dirty="0"/>
              <a:t>第一部：看大局 </a:t>
            </a:r>
            <a:r>
              <a:rPr lang="en-US" altLang="zh-TW" b="1" dirty="0"/>
              <a:t>—— </a:t>
            </a:r>
            <a:r>
              <a:rPr lang="zh-TW" altLang="en-US" b="1" dirty="0"/>
              <a:t>結構的轉位 </a:t>
            </a:r>
            <a:r>
              <a:rPr lang="en-US" altLang="zh-TW" b="1" dirty="0"/>
              <a:t>(</a:t>
            </a:r>
            <a:r>
              <a:rPr lang="zh-TW" altLang="en-US" b="1" dirty="0"/>
              <a:t>左側：</a:t>
            </a:r>
            <a:r>
              <a:rPr lang="en-US" altLang="zh-TW" b="1" dirty="0"/>
              <a:t>100% </a:t>
            </a:r>
            <a:r>
              <a:rPr lang="zh-TW" altLang="en-US" b="1" dirty="0"/>
              <a:t>堆疊面積圖</a:t>
            </a:r>
            <a:r>
              <a:rPr lang="en-US" altLang="zh-TW" b="1" dirty="0"/>
              <a:t>)</a:t>
            </a:r>
          </a:p>
          <a:p>
            <a:r>
              <a:rPr lang="zh-TW" altLang="en-US" dirty="0"/>
              <a:t>「各位評審請看左方的趨勢圖。這張圖記錄了從 </a:t>
            </a:r>
            <a:r>
              <a:rPr lang="en-US" altLang="zh-TW" dirty="0"/>
              <a:t>2007 </a:t>
            </a:r>
            <a:r>
              <a:rPr lang="zh-TW" altLang="en-US" dirty="0"/>
              <a:t>年到 </a:t>
            </a:r>
            <a:r>
              <a:rPr lang="en-US" altLang="zh-TW" dirty="0"/>
              <a:t>2026 </a:t>
            </a:r>
            <a:r>
              <a:rPr lang="zh-TW" altLang="en-US" dirty="0"/>
              <a:t>年台灣能源結構的演變。</a:t>
            </a:r>
          </a:p>
          <a:p>
            <a:r>
              <a:rPr lang="zh-TW" altLang="en-US" dirty="0"/>
              <a:t>我特別調整了 </a:t>
            </a:r>
            <a:r>
              <a:rPr lang="en-US" altLang="zh-TW" dirty="0"/>
              <a:t>Y </a:t>
            </a:r>
            <a:r>
              <a:rPr lang="zh-TW" altLang="en-US" dirty="0"/>
              <a:t>軸比例，讓大家能清晰看到：雖然火力發電仍是支撐電網的基石，但**再生能源（綠色區塊）</a:t>
            </a:r>
            <a:r>
              <a:rPr lang="zh-TW" altLang="en-US" b="1" dirty="0"/>
              <a:t>正在顯著增厚。最關鍵的洞察在於，它正精準地填補了</a:t>
            </a:r>
            <a:r>
              <a:rPr lang="zh-TW" altLang="en-US" dirty="0"/>
              <a:t>核能（紫色區塊）**逐步除役後的電力缺口。這證實了台灣的能源轉型不只是總量的變動，更是結構性的接棒。」</a:t>
            </a:r>
          </a:p>
          <a:p>
            <a:r>
              <a:rPr lang="zh-TW" altLang="en-US" b="1" dirty="0"/>
              <a:t>第二部：定結論 </a:t>
            </a:r>
            <a:r>
              <a:rPr lang="en-US" altLang="zh-TW" b="1" dirty="0"/>
              <a:t>—— </a:t>
            </a:r>
            <a:r>
              <a:rPr lang="zh-TW" altLang="en-US" b="1" dirty="0"/>
              <a:t>現狀的切片 </a:t>
            </a:r>
            <a:r>
              <a:rPr lang="en-US" altLang="zh-TW" b="1" dirty="0"/>
              <a:t>(</a:t>
            </a:r>
            <a:r>
              <a:rPr lang="zh-TW" altLang="en-US" b="1" dirty="0"/>
              <a:t>右上：環狀圖</a:t>
            </a:r>
            <a:r>
              <a:rPr lang="en-US" altLang="zh-TW" b="1" dirty="0"/>
              <a:t>)</a:t>
            </a:r>
          </a:p>
          <a:p>
            <a:r>
              <a:rPr lang="zh-TW" altLang="en-US" dirty="0"/>
              <a:t>「為了讓大家對目前的進度有具體概念，請看右上的環狀圖。這份 </a:t>
            </a:r>
            <a:r>
              <a:rPr lang="en-US" altLang="zh-TW" dirty="0"/>
              <a:t>2025 </a:t>
            </a:r>
            <a:r>
              <a:rPr lang="zh-TW" altLang="en-US" dirty="0"/>
              <a:t>年的全年定格數據，與左側趨勢是完全吻合的。</a:t>
            </a:r>
          </a:p>
          <a:p>
            <a:r>
              <a:rPr lang="zh-TW" altLang="en-US" dirty="0"/>
              <a:t>目前，再生能源的佔比已穩健達成 </a:t>
            </a:r>
            <a:r>
              <a:rPr lang="en-US" altLang="zh-TW" b="1" dirty="0"/>
              <a:t>[X]%</a:t>
            </a:r>
            <a:r>
              <a:rPr lang="zh-TW" altLang="en-US" dirty="0"/>
              <a:t>。這個數字代表我們已經跨越了轉型初期的門檻，進入了規模化發展的階段。這張圖為我們設定了一個清楚的基準點：</a:t>
            </a:r>
            <a:r>
              <a:rPr lang="zh-TW" altLang="en-US" b="1" dirty="0"/>
              <a:t>每 </a:t>
            </a:r>
            <a:r>
              <a:rPr lang="en-US" altLang="zh-TW" b="1" dirty="0"/>
              <a:t>10 </a:t>
            </a:r>
            <a:r>
              <a:rPr lang="zh-TW" altLang="en-US" b="1" dirty="0"/>
              <a:t>度電中，就有將近 </a:t>
            </a:r>
            <a:r>
              <a:rPr lang="en-US" altLang="zh-TW" b="1" dirty="0"/>
              <a:t>[X] </a:t>
            </a:r>
            <a:r>
              <a:rPr lang="zh-TW" altLang="en-US" b="1" dirty="0"/>
              <a:t>度來自綠能。</a:t>
            </a:r>
            <a:r>
              <a:rPr lang="zh-TW" altLang="en-US" dirty="0"/>
              <a:t>」</a:t>
            </a:r>
          </a:p>
          <a:p>
            <a:r>
              <a:rPr lang="zh-TW" altLang="en-US" b="1" dirty="0"/>
              <a:t>第三部：看動能 </a:t>
            </a:r>
            <a:r>
              <a:rPr lang="en-US" altLang="zh-TW" b="1" dirty="0"/>
              <a:t>—— </a:t>
            </a:r>
            <a:r>
              <a:rPr lang="zh-TW" altLang="en-US" b="1" dirty="0"/>
              <a:t>爆發的力道 </a:t>
            </a:r>
            <a:r>
              <a:rPr lang="en-US" altLang="zh-TW" b="1" dirty="0"/>
              <a:t>(</a:t>
            </a:r>
            <a:r>
              <a:rPr lang="zh-TW" altLang="en-US" b="1" dirty="0"/>
              <a:t>右下：再生能源柱狀圖</a:t>
            </a:r>
            <a:r>
              <a:rPr lang="en-US" altLang="zh-TW" b="1" dirty="0"/>
              <a:t>)</a:t>
            </a:r>
          </a:p>
          <a:p>
            <a:r>
              <a:rPr lang="zh-TW" altLang="en-US" dirty="0"/>
              <a:t>「最後，我們單獨把再生能源拉出來看。右下方的柱狀圖直觀展現了它的成長幅度。</a:t>
            </a:r>
          </a:p>
          <a:p>
            <a:r>
              <a:rPr lang="zh-TW" altLang="en-US" dirty="0"/>
              <a:t>大家可以看到，這不是緩步爬升，而是</a:t>
            </a:r>
            <a:r>
              <a:rPr lang="zh-TW" altLang="en-US" b="1" dirty="0"/>
              <a:t>爆發性的增長</a:t>
            </a:r>
            <a:r>
              <a:rPr lang="zh-TW" altLang="en-US" dirty="0"/>
              <a:t>。特別是 </a:t>
            </a:r>
            <a:r>
              <a:rPr lang="en-US" altLang="zh-TW" dirty="0"/>
              <a:t>2017 </a:t>
            </a:r>
            <a:r>
              <a:rPr lang="zh-TW" altLang="en-US" dirty="0"/>
              <a:t>年後，柱狀高度幾乎是翻倍跳躍。這張圖回答了</a:t>
            </a:r>
            <a:r>
              <a:rPr lang="en-US" altLang="zh-TW" dirty="0"/>
              <a:t>『</a:t>
            </a:r>
            <a:r>
              <a:rPr lang="zh-TW" altLang="en-US" dirty="0"/>
              <a:t>綠能長得夠快嗎？</a:t>
            </a:r>
            <a:r>
              <a:rPr lang="en-US" altLang="zh-TW" dirty="0"/>
              <a:t>』</a:t>
            </a:r>
            <a:r>
              <a:rPr lang="zh-TW" altLang="en-US" dirty="0"/>
              <a:t>的疑問，答案是肯定的。</a:t>
            </a:r>
          </a:p>
          <a:p>
            <a:r>
              <a:rPr lang="zh-TW" altLang="en-US" dirty="0"/>
              <a:t>但這引發了一個核心問題：</a:t>
            </a:r>
            <a:r>
              <a:rPr lang="zh-TW" altLang="en-US" b="1" dirty="0"/>
              <a:t>這股強大的綠能動能，背後是誰在推動？是大電廠，還是分散在民間的設備？</a:t>
            </a:r>
            <a:r>
              <a:rPr lang="zh-TW" altLang="en-US" dirty="0"/>
              <a:t> 這就是我們下一頁要揭開的關鍵結構。」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79095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FD45EB-ACDF-9234-7A3C-C925332B2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378E0AC-B0DB-F6B4-1D2B-99B335C5C5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/>
              <a:t>2017 </a:t>
            </a:r>
            <a:r>
              <a:rPr lang="zh-TW" altLang="en-US" b="1" dirty="0"/>
              <a:t>年後的「觸底反彈」：誰在推動？</a:t>
            </a:r>
          </a:p>
          <a:p>
            <a:r>
              <a:rPr lang="zh-TW" altLang="en-US" dirty="0"/>
              <a:t>這就是你專題的**「英雄出場」**時刻！</a:t>
            </a:r>
          </a:p>
          <a:p>
            <a:r>
              <a:rPr lang="en-US" altLang="zh-TW" dirty="0"/>
              <a:t>2017 </a:t>
            </a:r>
            <a:r>
              <a:rPr lang="zh-TW" altLang="en-US" dirty="0"/>
              <a:t>年後佔比開始反彈，你可以觀察你的 </a:t>
            </a:r>
            <a:r>
              <a:rPr lang="en-US" altLang="zh-TW" dirty="0"/>
              <a:t>Power BI </a:t>
            </a:r>
            <a:r>
              <a:rPr lang="zh-TW" altLang="en-US" dirty="0"/>
              <a:t>圖表，看看是不是出現了以下現象：</a:t>
            </a:r>
          </a:p>
          <a:p>
            <a:r>
              <a:rPr lang="zh-TW" altLang="en-US" b="1" dirty="0"/>
              <a:t>「民間自用綠能」的線條開始陡峭上升。</a:t>
            </a:r>
            <a:endParaRPr lang="zh-TW" altLang="en-US" dirty="0"/>
          </a:p>
          <a:p>
            <a:r>
              <a:rPr lang="zh-TW" altLang="en-US" b="1" dirty="0"/>
              <a:t>「民營電廠 </a:t>
            </a:r>
            <a:r>
              <a:rPr lang="en-US" altLang="zh-TW" b="1" dirty="0"/>
              <a:t>(IPP) </a:t>
            </a:r>
            <a:r>
              <a:rPr lang="zh-TW" altLang="en-US" b="1" dirty="0"/>
              <a:t>綠能」大型案場開始併網。</a:t>
            </a:r>
            <a:endParaRPr lang="zh-TW" altLang="en-US" dirty="0"/>
          </a:p>
          <a:p>
            <a:r>
              <a:rPr lang="zh-TW" altLang="en-US" dirty="0"/>
              <a:t>「自 </a:t>
            </a:r>
            <a:r>
              <a:rPr lang="en-US" altLang="zh-TW" dirty="0"/>
              <a:t>2017 </a:t>
            </a:r>
            <a:r>
              <a:rPr lang="zh-TW" altLang="en-US" dirty="0"/>
              <a:t>年能源轉型以來，民間自用綠能設備規模已達成 </a:t>
            </a:r>
            <a:r>
              <a:rPr lang="en-US" altLang="zh-TW" dirty="0"/>
              <a:t>200% </a:t>
            </a:r>
            <a:r>
              <a:rPr lang="zh-TW" altLang="en-US" dirty="0"/>
              <a:t>的爆發式成長，發電量翻逐 </a:t>
            </a:r>
            <a:r>
              <a:rPr lang="en-US" altLang="zh-TW" dirty="0"/>
              <a:t>3 </a:t>
            </a:r>
            <a:r>
              <a:rPr lang="zh-TW" altLang="en-US" dirty="0"/>
              <a:t>倍，成為台灣分散式電網最強大的動能。」</a:t>
            </a:r>
          </a:p>
        </p:txBody>
      </p:sp>
    </p:spTree>
    <p:extLst>
      <p:ext uri="{BB962C8B-B14F-4D97-AF65-F5344CB8AC3E}">
        <p14:creationId xmlns:p14="http://schemas.microsoft.com/office/powerpoint/2010/main" val="3335961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7F2941-DD0A-74BC-341A-EC75482D6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75DB23D-3F58-9D0A-64D6-135637D9F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「再生能源貢獻拆解：民間自用設備的崛起」</a:t>
            </a:r>
          </a:p>
        </p:txBody>
      </p:sp>
    </p:spTree>
    <p:extLst>
      <p:ext uri="{BB962C8B-B14F-4D97-AF65-F5344CB8AC3E}">
        <p14:creationId xmlns:p14="http://schemas.microsoft.com/office/powerpoint/2010/main" val="1673019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E79172-72BF-B270-BC98-57276887E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5357848-2309-7B01-D90A-4FCA7E772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/>
              <a:t>5. Power BI </a:t>
            </a:r>
            <a:r>
              <a:rPr lang="zh-TW" altLang="en-US" b="1" dirty="0"/>
              <a:t>視覺化報表產出 </a:t>
            </a:r>
            <a:r>
              <a:rPr lang="en-US" altLang="zh-TW" b="1" dirty="0"/>
              <a:t>(Visual Dashboard)</a:t>
            </a:r>
          </a:p>
          <a:p>
            <a:r>
              <a:rPr lang="zh-TW" altLang="en-US" b="1" dirty="0"/>
              <a:t>趨勢圖表：</a:t>
            </a:r>
            <a:r>
              <a:rPr lang="zh-TW" altLang="en-US" dirty="0"/>
              <a:t> 繪製動態堆疊面積圖，展現 </a:t>
            </a:r>
            <a:r>
              <a:rPr lang="en-US" altLang="zh-TW" dirty="0"/>
              <a:t>20 </a:t>
            </a:r>
            <a:r>
              <a:rPr lang="zh-TW" altLang="en-US" dirty="0"/>
              <a:t>年結構變遷。</a:t>
            </a:r>
          </a:p>
          <a:p>
            <a:r>
              <a:rPr lang="zh-TW" altLang="en-US" b="1" dirty="0"/>
              <a:t>核心指標 </a:t>
            </a:r>
            <a:r>
              <a:rPr lang="en-US" altLang="zh-TW" b="1" dirty="0"/>
              <a:t>(KPI)</a:t>
            </a:r>
            <a:r>
              <a:rPr lang="zh-TW" altLang="en-US" b="1" dirty="0"/>
              <a:t>：</a:t>
            </a:r>
            <a:r>
              <a:rPr lang="zh-TW" altLang="en-US" dirty="0"/>
              <a:t> 建立動態量值卡片，即時顯示當前潔淨能源佔比。</a:t>
            </a:r>
          </a:p>
          <a:p>
            <a:r>
              <a:rPr lang="zh-TW" altLang="en-US" b="1" dirty="0"/>
              <a:t>互動設計：</a:t>
            </a:r>
            <a:r>
              <a:rPr lang="zh-TW" altLang="en-US" dirty="0"/>
              <a:t> 設置時間與主體切片器 </a:t>
            </a:r>
            <a:r>
              <a:rPr lang="en-US" altLang="zh-TW" dirty="0"/>
              <a:t>(Slicer)</a:t>
            </a:r>
            <a:r>
              <a:rPr lang="zh-TW" altLang="en-US" dirty="0"/>
              <a:t>，支持「下鑽式」探索。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267026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24B10B-341A-DB2B-6121-2E6909E8C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523407A-2F3A-C50B-3F64-91A8D5F85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/>
              <a:t>6. </a:t>
            </a:r>
            <a:r>
              <a:rPr lang="zh-TW" altLang="en-US" b="1" dirty="0"/>
              <a:t>專題簡報生成與結論 </a:t>
            </a:r>
            <a:r>
              <a:rPr lang="en-US" altLang="zh-TW" b="1" dirty="0"/>
              <a:t>(Final Presentation)</a:t>
            </a:r>
          </a:p>
          <a:p>
            <a:r>
              <a:rPr lang="zh-TW" altLang="en-US" b="1" dirty="0"/>
              <a:t>技術總結：</a:t>
            </a:r>
            <a:r>
              <a:rPr lang="zh-TW" altLang="en-US" dirty="0"/>
              <a:t> 說明 </a:t>
            </a:r>
            <a:r>
              <a:rPr lang="en-US" altLang="zh-TW" dirty="0"/>
              <a:t>ETL </a:t>
            </a:r>
            <a:r>
              <a:rPr lang="zh-TW" altLang="en-US" dirty="0"/>
              <a:t>處理過程與資料嚴謹度。</a:t>
            </a:r>
          </a:p>
          <a:p>
            <a:r>
              <a:rPr lang="zh-TW" altLang="en-US" b="1" dirty="0"/>
              <a:t>關鍵洞察：</a:t>
            </a:r>
            <a:r>
              <a:rPr lang="zh-TW" altLang="en-US" dirty="0"/>
              <a:t> 總結自用發電設備如何引領能源轉型。</a:t>
            </a:r>
          </a:p>
          <a:p>
            <a:r>
              <a:rPr lang="zh-TW" altLang="en-US" b="1" dirty="0"/>
              <a:t>策略建議：</a:t>
            </a:r>
            <a:r>
              <a:rPr lang="zh-TW" altLang="en-US" dirty="0"/>
              <a:t> 根據數據預測 </a:t>
            </a:r>
            <a:r>
              <a:rPr lang="en-US" altLang="zh-TW" dirty="0"/>
              <a:t>2026 </a:t>
            </a:r>
            <a:r>
              <a:rPr lang="zh-TW" altLang="en-US" dirty="0"/>
              <a:t>年後台灣能源配比的挑戰。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362478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433224-B4C8-50D2-0AD6-C468ADA62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E330D6F-1852-2386-A8C5-C7CAC6238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b="1" dirty="0"/>
              <a:t>你的下一步建議</a:t>
            </a:r>
          </a:p>
          <a:p>
            <a:r>
              <a:rPr lang="zh-TW" altLang="en-US" dirty="0"/>
              <a:t>既然你已經完成了 </a:t>
            </a:r>
            <a:r>
              <a:rPr lang="en-US" altLang="zh-TW" b="1" dirty="0"/>
              <a:t>1 </a:t>
            </a:r>
            <a:r>
              <a:rPr lang="zh-TW" altLang="en-US" b="1" dirty="0"/>
              <a:t>到 </a:t>
            </a:r>
            <a:r>
              <a:rPr lang="en-US" altLang="zh-TW" b="1" dirty="0"/>
              <a:t>3 </a:t>
            </a:r>
            <a:r>
              <a:rPr lang="zh-TW" altLang="en-US" b="1" dirty="0"/>
              <a:t>步 </a:t>
            </a:r>
            <a:r>
              <a:rPr lang="en-US" altLang="zh-TW" b="1" dirty="0"/>
              <a:t>(ETL)</a:t>
            </a:r>
            <a:r>
              <a:rPr lang="zh-TW" altLang="en-US" dirty="0"/>
              <a:t>，現在進入 </a:t>
            </a:r>
            <a:r>
              <a:rPr lang="zh-TW" altLang="en-US" b="1" dirty="0"/>
              <a:t>第 </a:t>
            </a:r>
            <a:r>
              <a:rPr lang="en-US" altLang="zh-TW" b="1" dirty="0"/>
              <a:t>4 </a:t>
            </a:r>
            <a:r>
              <a:rPr lang="zh-TW" altLang="en-US" b="1" dirty="0"/>
              <a:t>步 </a:t>
            </a:r>
            <a:r>
              <a:rPr lang="en-US" altLang="zh-TW" b="1" dirty="0"/>
              <a:t>(</a:t>
            </a:r>
            <a:r>
              <a:rPr lang="zh-TW" altLang="en-US" b="1" dirty="0"/>
              <a:t>資料分析</a:t>
            </a:r>
            <a:r>
              <a:rPr lang="en-US" altLang="zh-TW" b="1" dirty="0"/>
              <a:t>)</a:t>
            </a:r>
            <a:r>
              <a:rPr lang="zh-TW" altLang="en-US" dirty="0"/>
              <a:t> 時，你可以試著在 </a:t>
            </a:r>
            <a:r>
              <a:rPr lang="en-US" altLang="zh-TW" dirty="0"/>
              <a:t>Power BI </a:t>
            </a:r>
            <a:r>
              <a:rPr lang="zh-TW" altLang="en-US" dirty="0"/>
              <a:t>裡找出這一個答案：</a:t>
            </a:r>
          </a:p>
          <a:p>
            <a:r>
              <a:rPr lang="zh-TW" altLang="en-US" b="1" dirty="0"/>
              <a:t>「在哪一個月份，自用發電設備的</a:t>
            </a:r>
            <a:r>
              <a:rPr lang="en-US" altLang="zh-TW" b="1" dirty="0"/>
              <a:t>『</a:t>
            </a:r>
            <a:r>
              <a:rPr lang="zh-TW" altLang="en-US" b="1" dirty="0"/>
              <a:t>太陽光電</a:t>
            </a:r>
            <a:r>
              <a:rPr lang="en-US" altLang="zh-TW" b="1" dirty="0"/>
              <a:t>』</a:t>
            </a:r>
            <a:r>
              <a:rPr lang="zh-TW" altLang="en-US" b="1" dirty="0"/>
              <a:t>發電量，第一次超越了台電自身的</a:t>
            </a:r>
            <a:r>
              <a:rPr lang="en-US" altLang="zh-TW" b="1" dirty="0"/>
              <a:t>『</a:t>
            </a:r>
            <a:r>
              <a:rPr lang="zh-TW" altLang="en-US" b="1" dirty="0"/>
              <a:t>太陽光電</a:t>
            </a:r>
            <a:r>
              <a:rPr lang="en-US" altLang="zh-TW" b="1" dirty="0"/>
              <a:t>』</a:t>
            </a:r>
            <a:r>
              <a:rPr lang="zh-TW" altLang="en-US" b="1" dirty="0"/>
              <a:t>發電量？」</a:t>
            </a:r>
            <a:endParaRPr lang="zh-TW" altLang="en-US" dirty="0"/>
          </a:p>
          <a:p>
            <a:r>
              <a:rPr lang="zh-TW" altLang="en-US" dirty="0"/>
              <a:t>這會是你簡報中最酷、最有力的一張投影片，因為它直接證明了「能源民主化」的進程。</a:t>
            </a:r>
          </a:p>
          <a:p>
            <a:r>
              <a:rPr lang="zh-TW" altLang="en-US" b="1" dirty="0"/>
              <a:t>需要我幫你把這份 </a:t>
            </a:r>
            <a:r>
              <a:rPr lang="en-US" altLang="zh-TW" b="1" dirty="0"/>
              <a:t>Agenda </a:t>
            </a:r>
            <a:r>
              <a:rPr lang="zh-TW" altLang="en-US" b="1" dirty="0"/>
              <a:t>轉換成一份 </a:t>
            </a:r>
            <a:r>
              <a:rPr lang="en-US" altLang="zh-TW" b="1" dirty="0"/>
              <a:t>PPT </a:t>
            </a:r>
            <a:r>
              <a:rPr lang="zh-TW" altLang="en-US" b="1" dirty="0"/>
              <a:t>用的「專案時程圖 </a:t>
            </a:r>
            <a:r>
              <a:rPr lang="en-US" altLang="zh-TW" b="1" dirty="0"/>
              <a:t>(Gantt Chart)</a:t>
            </a:r>
            <a:r>
              <a:rPr lang="zh-TW" altLang="en-US" b="1" dirty="0"/>
              <a:t>」描述，或是幫你寫出簡報開場的第一張投影片內容嗎？</a:t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48426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2E70D9-A2F5-4DD7-6774-FDF0B13B4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專題資料處理技術報告 </a:t>
            </a:r>
            <a:r>
              <a:rPr lang="en-US" altLang="zh-TW" dirty="0"/>
              <a:t>(ETL Summary)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0BA0607-B15B-CA87-7EC6-ECF750251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dirty="0"/>
              <a:t>原始資料來源與挑戰</a:t>
            </a:r>
          </a:p>
          <a:p>
            <a:r>
              <a:rPr lang="zh-TW" altLang="en-US" b="1" dirty="0"/>
              <a:t>資料範疇：</a:t>
            </a:r>
            <a:r>
              <a:rPr lang="zh-TW" altLang="en-US" dirty="0"/>
              <a:t> </a:t>
            </a:r>
            <a:r>
              <a:rPr lang="en-US" altLang="zh-TW" dirty="0"/>
              <a:t>2007 </a:t>
            </a:r>
            <a:r>
              <a:rPr lang="zh-TW" altLang="en-US" dirty="0"/>
              <a:t>年至 </a:t>
            </a:r>
            <a:r>
              <a:rPr lang="en-US" altLang="zh-TW" dirty="0"/>
              <a:t>2026 </a:t>
            </a:r>
            <a:r>
              <a:rPr lang="zh-TW" altLang="en-US" dirty="0"/>
              <a:t>年台灣逐月發電量數據。</a:t>
            </a:r>
          </a:p>
          <a:p>
            <a:r>
              <a:rPr lang="zh-TW" altLang="en-US" b="1" dirty="0"/>
              <a:t>原始格式：</a:t>
            </a:r>
            <a:r>
              <a:rPr lang="zh-TW" altLang="en-US" dirty="0"/>
              <a:t> 典型「寬表 </a:t>
            </a:r>
            <a:r>
              <a:rPr lang="en-US" altLang="zh-TW" dirty="0"/>
              <a:t>(Wide Table)</a:t>
            </a:r>
            <a:r>
              <a:rPr lang="zh-TW" altLang="en-US" dirty="0"/>
              <a:t>」，包含超過 </a:t>
            </a:r>
            <a:r>
              <a:rPr lang="en-US" altLang="zh-TW" dirty="0"/>
              <a:t>50 </a:t>
            </a:r>
            <a:r>
              <a:rPr lang="zh-TW" altLang="en-US" dirty="0"/>
              <a:t>個欄位（如：再生能源</a:t>
            </a:r>
            <a:r>
              <a:rPr lang="en-US" altLang="zh-TW" dirty="0"/>
              <a:t>_</a:t>
            </a:r>
            <a:r>
              <a:rPr lang="zh-TW" altLang="en-US" dirty="0"/>
              <a:t>太陽光電</a:t>
            </a:r>
            <a:r>
              <a:rPr lang="en-US" altLang="zh-TW" dirty="0"/>
              <a:t>_</a:t>
            </a:r>
            <a:r>
              <a:rPr lang="zh-TW" altLang="en-US" dirty="0"/>
              <a:t>台電）。</a:t>
            </a:r>
          </a:p>
          <a:p>
            <a:r>
              <a:rPr lang="zh-TW" altLang="en-US" b="1" dirty="0"/>
              <a:t>面臨挑戰：</a:t>
            </a:r>
            <a:r>
              <a:rPr lang="zh-TW" altLang="en-US" dirty="0"/>
              <a:t> * </a:t>
            </a:r>
            <a:r>
              <a:rPr lang="zh-TW" altLang="en-US" b="1" dirty="0"/>
              <a:t>維度混雜：</a:t>
            </a:r>
            <a:r>
              <a:rPr lang="zh-TW" altLang="en-US" dirty="0"/>
              <a:t> 經營主體、能源類別、發電細項全擠在欄位名稱中，無法直接進行類別分析。</a:t>
            </a:r>
          </a:p>
          <a:p>
            <a:pPr lvl="1"/>
            <a:r>
              <a:rPr lang="zh-TW" altLang="en-US" b="1" dirty="0"/>
              <a:t>資料冗餘：</a:t>
            </a:r>
            <a:r>
              <a:rPr lang="zh-TW" altLang="en-US" dirty="0"/>
              <a:t> 包含「全國總量」與「分項數據」，直接運算會造成重複計算。</a:t>
            </a:r>
          </a:p>
          <a:p>
            <a:pPr lvl="1"/>
            <a:r>
              <a:rPr lang="zh-TW" altLang="en-US" b="1" dirty="0"/>
              <a:t>命名雜訊：</a:t>
            </a:r>
            <a:r>
              <a:rPr lang="zh-TW" altLang="en-US" dirty="0"/>
              <a:t> 欄位帶有 </a:t>
            </a:r>
            <a:r>
              <a:rPr lang="en-US" altLang="zh-TW" dirty="0"/>
              <a:t>(</a:t>
            </a:r>
            <a:r>
              <a:rPr lang="zh-TW" altLang="en-US" dirty="0"/>
              <a:t>數值</a:t>
            </a:r>
            <a:r>
              <a:rPr lang="en-US" altLang="zh-TW" dirty="0"/>
              <a:t>)</a:t>
            </a:r>
            <a:r>
              <a:rPr lang="zh-TW" altLang="en-US" dirty="0"/>
              <a:t> 或 </a:t>
            </a:r>
            <a:r>
              <a:rPr lang="en-US" altLang="zh-TW" dirty="0"/>
              <a:t>_</a:t>
            </a:r>
            <a:r>
              <a:rPr lang="zh-TW" altLang="en-US" dirty="0"/>
              <a:t>全國 等非結構化文字。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192877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C46CB4-108E-A652-0C0E-D00F2D90A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853C0F2-5FF7-730F-430A-515679CA3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TW" b="1" dirty="0"/>
              <a:t>2. ETL </a:t>
            </a:r>
            <a:r>
              <a:rPr lang="zh-TW" altLang="en-US" b="1" dirty="0"/>
              <a:t>核心處理流程 </a:t>
            </a:r>
            <a:r>
              <a:rPr lang="en-US" altLang="zh-TW" b="1" dirty="0"/>
              <a:t>(Power Query)</a:t>
            </a:r>
          </a:p>
          <a:p>
            <a:r>
              <a:rPr lang="zh-TW" altLang="en-US" dirty="0"/>
              <a:t>我們採用了 </a:t>
            </a:r>
            <a:r>
              <a:rPr lang="zh-TW" altLang="en-US" b="1" dirty="0"/>
              <a:t>「標籤化 </a:t>
            </a:r>
            <a:r>
              <a:rPr lang="en-US" altLang="zh-TW" b="1" dirty="0"/>
              <a:t>(Tagging)</a:t>
            </a:r>
            <a:r>
              <a:rPr lang="zh-TW" altLang="en-US" b="1" dirty="0"/>
              <a:t>」</a:t>
            </a:r>
            <a:r>
              <a:rPr lang="zh-TW" altLang="en-US" dirty="0"/>
              <a:t> 與 </a:t>
            </a:r>
            <a:r>
              <a:rPr lang="zh-TW" altLang="en-US" b="1" dirty="0"/>
              <a:t>「結構重建 </a:t>
            </a:r>
            <a:r>
              <a:rPr lang="en-US" altLang="zh-TW" b="1" dirty="0"/>
              <a:t>(Restructuring)</a:t>
            </a:r>
            <a:r>
              <a:rPr lang="zh-TW" altLang="en-US" b="1" dirty="0"/>
              <a:t>」</a:t>
            </a:r>
            <a:r>
              <a:rPr lang="zh-TW" altLang="en-US" dirty="0"/>
              <a:t> 的策略，將資料轉化為分析友好的「長表 </a:t>
            </a:r>
            <a:r>
              <a:rPr lang="en-US" altLang="zh-TW" dirty="0"/>
              <a:t>(Long Table)</a:t>
            </a:r>
            <a:r>
              <a:rPr lang="zh-TW" altLang="en-US" dirty="0"/>
              <a:t>」。</a:t>
            </a:r>
          </a:p>
          <a:p>
            <a:r>
              <a:rPr lang="zh-TW" altLang="en-US" b="1" dirty="0"/>
              <a:t>第一階段：結構轉向 </a:t>
            </a:r>
            <a:r>
              <a:rPr lang="en-US" altLang="zh-TW" b="1" dirty="0"/>
              <a:t>(Unpivot)</a:t>
            </a:r>
          </a:p>
          <a:p>
            <a:r>
              <a:rPr lang="zh-TW" altLang="en-US" b="1" dirty="0"/>
              <a:t>操作：</a:t>
            </a:r>
            <a:r>
              <a:rPr lang="zh-TW" altLang="en-US" dirty="0"/>
              <a:t> 固定「西元年」與「月份」，將其餘 </a:t>
            </a:r>
            <a:r>
              <a:rPr lang="en-US" altLang="zh-TW" dirty="0"/>
              <a:t>50 </a:t>
            </a:r>
            <a:r>
              <a:rPr lang="zh-TW" altLang="en-US" dirty="0"/>
              <a:t>個發電欄位執行 </a:t>
            </a:r>
            <a:r>
              <a:rPr lang="zh-TW" altLang="en-US" b="1" dirty="0"/>
              <a:t>「取消樞紐 </a:t>
            </a:r>
            <a:r>
              <a:rPr lang="en-US" altLang="zh-TW" b="1" dirty="0"/>
              <a:t>(Unpivot)</a:t>
            </a:r>
            <a:r>
              <a:rPr lang="zh-TW" altLang="en-US" b="1" dirty="0"/>
              <a:t>」</a:t>
            </a:r>
            <a:r>
              <a:rPr lang="zh-TW" altLang="en-US" dirty="0"/>
              <a:t>。</a:t>
            </a:r>
          </a:p>
          <a:p>
            <a:r>
              <a:rPr lang="zh-TW" altLang="en-US" b="1" dirty="0"/>
              <a:t>效果：</a:t>
            </a:r>
            <a:r>
              <a:rPr lang="zh-TW" altLang="en-US" dirty="0"/>
              <a:t> 將橫向擴展的欄位轉為縱向的 </a:t>
            </a:r>
            <a:r>
              <a:rPr lang="en-US" altLang="zh-TW" dirty="0"/>
              <a:t>Row</a:t>
            </a:r>
            <a:r>
              <a:rPr lang="zh-TW" altLang="en-US" dirty="0"/>
              <a:t>，使每一筆發電數值都配有一組「屬性標籤」。</a:t>
            </a:r>
          </a:p>
          <a:p>
            <a:r>
              <a:rPr lang="zh-TW" altLang="en-US" b="1" dirty="0"/>
              <a:t>第二階段：多層級維度拆分 </a:t>
            </a:r>
            <a:r>
              <a:rPr lang="en-US" altLang="zh-TW" b="1" dirty="0"/>
              <a:t>(Split Column)</a:t>
            </a:r>
          </a:p>
          <a:p>
            <a:r>
              <a:rPr lang="zh-TW" altLang="en-US" b="1" dirty="0"/>
              <a:t>操作：</a:t>
            </a:r>
            <a:r>
              <a:rPr lang="zh-TW" altLang="en-US" dirty="0"/>
              <a:t> 利用底線 </a:t>
            </a:r>
            <a:r>
              <a:rPr lang="en-US" altLang="zh-TW" dirty="0"/>
              <a:t>_</a:t>
            </a:r>
            <a:r>
              <a:rPr lang="zh-TW" altLang="en-US" dirty="0"/>
              <a:t> 作為分隔符號，將屬性欄位拆解為三個獨立維度：</a:t>
            </a:r>
          </a:p>
          <a:p>
            <a:pPr lvl="1"/>
            <a:r>
              <a:rPr lang="zh-TW" altLang="en-US" b="1" dirty="0"/>
              <a:t>經營主體：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台電、民營電廠、自用發電設備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</a:p>
          <a:p>
            <a:pPr lvl="1"/>
            <a:r>
              <a:rPr lang="zh-TW" altLang="en-US" b="1" dirty="0"/>
              <a:t>能源大類：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火力、核能、再生能源、抽蓄水力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</a:p>
          <a:p>
            <a:pPr lvl="1"/>
            <a:r>
              <a:rPr lang="zh-TW" altLang="en-US" b="1" dirty="0"/>
              <a:t>能源細項：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燃煤、燃氣、太陽光電、風力等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443839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33CA47-D4BD-EB5E-3D13-DED5181B1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C6666C0-DFA5-F6F2-F820-E0F5C4015E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2676316"/>
            <a:ext cx="10642600" cy="2649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TW" altLang="zh-TW" sz="2400" b="1" dirty="0">
                <a:latin typeface="Calibri" panose="020F0502020204030204" pitchFamily="34" charset="0"/>
                <a:cs typeface="Calibri" panose="020F0502020204030204" pitchFamily="34" charset="0"/>
              </a:rPr>
              <a:t>第三階段：資料淨化 (Data Cleaning)</a:t>
            </a:r>
          </a:p>
          <a:p>
            <a:pPr marL="0" marR="0" lvl="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TW" altLang="zh-TW" sz="2400" b="1" dirty="0">
                <a:latin typeface="Calibri" panose="020F0502020204030204" pitchFamily="34" charset="0"/>
                <a:cs typeface="Calibri" panose="020F0502020204030204" pitchFamily="34" charset="0"/>
              </a:rPr>
              <a:t>去除雜訊： 批次取代 (數值) 字眼，並執行 修剪 (Trim) 除去看不見的空白，確保資料比對精準。</a:t>
            </a:r>
          </a:p>
          <a:p>
            <a:pPr marL="57150" marR="0" lvl="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TW" altLang="zh-TW" sz="2400" b="1" dirty="0">
                <a:latin typeface="Calibri" panose="020F0502020204030204" pitchFamily="34" charset="0"/>
                <a:cs typeface="Calibri" panose="020F0502020204030204" pitchFamily="34" charset="0"/>
              </a:rPr>
              <a:t>邏輯修正： 針對「核能」等兩層級欄位，使用 「條件式資料行」 進行「向左校正」，確保每個 Row 的主體與類別標籤完整。</a:t>
            </a:r>
          </a:p>
          <a:p>
            <a:pPr marL="0" marR="0" lvl="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TW" altLang="zh-TW" sz="2400" b="1" dirty="0">
                <a:latin typeface="Calibri" panose="020F0502020204030204" pitchFamily="34" charset="0"/>
                <a:cs typeface="Calibri" panose="020F0502020204030204" pitchFamily="34" charset="0"/>
              </a:rPr>
              <a:t>第四階段：價值定義 (Feature Engineering)</a:t>
            </a:r>
          </a:p>
          <a:p>
            <a:pPr marL="0" marR="0" lvl="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TW" altLang="zh-TW" sz="2400" b="1" dirty="0">
                <a:latin typeface="Calibri" panose="020F0502020204030204" pitchFamily="34" charset="0"/>
                <a:cs typeface="Calibri" panose="020F0502020204030204" pitchFamily="34" charset="0"/>
              </a:rPr>
              <a:t>新增「潔淨能源」標籤： * 定義： 若能源大類為 再生能源 或 核能 $\rightarrow$ 歸類為 「潔淨能源」。</a:t>
            </a:r>
          </a:p>
          <a:p>
            <a:pPr marL="514350" marR="0" lvl="1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TW" altLang="zh-TW" b="1" dirty="0">
                <a:latin typeface="Calibri" panose="020F0502020204030204" pitchFamily="34" charset="0"/>
                <a:cs typeface="Calibri" panose="020F0502020204030204" pitchFamily="34" charset="0"/>
              </a:rPr>
              <a:t>目的： 為了直接計算專題核心指標「潔淨能源佔比 %」。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22465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D9E8DE-6366-C9E2-2316-E298ADBC0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3D7B753-0588-CBC2-B10F-10F5DC3A4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zh-TW" b="1" dirty="0"/>
              <a:t>3. </a:t>
            </a:r>
            <a:r>
              <a:rPr lang="zh-TW" altLang="en-US" b="1" dirty="0"/>
              <a:t>資料建模與分析亮點 </a:t>
            </a:r>
            <a:r>
              <a:rPr lang="en-US" altLang="zh-TW" b="1" dirty="0"/>
              <a:t>(</a:t>
            </a:r>
            <a:r>
              <a:rPr lang="zh-TW" altLang="en-US" b="1" dirty="0"/>
              <a:t>簡報結論預告</a:t>
            </a:r>
            <a:r>
              <a:rPr lang="en-US" altLang="zh-TW" b="1" dirty="0"/>
              <a:t>)</a:t>
            </a:r>
          </a:p>
          <a:p>
            <a:r>
              <a:rPr lang="zh-TW" altLang="en-US" dirty="0"/>
              <a:t>透過上述處理，這份資料現在具備了支持以下兩大發現的能力：</a:t>
            </a:r>
          </a:p>
          <a:p>
            <a:r>
              <a:rPr lang="zh-TW" altLang="en-US" b="1" dirty="0"/>
              <a:t>結構交叉點 </a:t>
            </a:r>
            <a:r>
              <a:rPr lang="en-US" altLang="zh-TW" b="1" dirty="0"/>
              <a:t>(</a:t>
            </a:r>
            <a:r>
              <a:rPr lang="zh-TW" altLang="en-US" b="1" dirty="0"/>
              <a:t>方向四</a:t>
            </a:r>
            <a:r>
              <a:rPr lang="en-US" altLang="zh-TW" b="1" dirty="0"/>
              <a:t>)</a:t>
            </a:r>
            <a:r>
              <a:rPr lang="zh-TW" altLang="en-US" b="1" dirty="0"/>
              <a:t>：</a:t>
            </a:r>
            <a:r>
              <a:rPr lang="zh-TW" altLang="en-US" dirty="0"/>
              <a:t> 能夠精準鎖定「再生能源」月產出正式超越「核能」的歷史瞬間，觀察能源接力賽的轉折。</a:t>
            </a:r>
          </a:p>
          <a:p>
            <a:r>
              <a:rPr lang="zh-TW" altLang="en-US" b="1" dirty="0"/>
              <a:t>民間動能 </a:t>
            </a:r>
            <a:r>
              <a:rPr lang="en-US" altLang="zh-TW" b="1" dirty="0"/>
              <a:t>(</a:t>
            </a:r>
            <a:r>
              <a:rPr lang="zh-TW" altLang="en-US" b="1" dirty="0"/>
              <a:t>方向三</a:t>
            </a:r>
            <a:r>
              <a:rPr lang="en-US" altLang="zh-TW" b="1" dirty="0"/>
              <a:t>)</a:t>
            </a:r>
            <a:r>
              <a:rPr lang="zh-TW" altLang="en-US" b="1" dirty="0"/>
              <a:t>：</a:t>
            </a:r>
            <a:r>
              <a:rPr lang="zh-TW" altLang="en-US" dirty="0"/>
              <a:t> 透過 經營主體 與 潔淨標籤 的交叉分析，實證了 </a:t>
            </a:r>
            <a:r>
              <a:rPr lang="zh-TW" altLang="en-US" b="1" dirty="0"/>
              <a:t>「自用發電設備」</a:t>
            </a:r>
            <a:r>
              <a:rPr lang="zh-TW" altLang="en-US" dirty="0"/>
              <a:t> 才是目前推動潔淨能源佔比上升的最快引擎（能源民主化趨勢）。</a:t>
            </a:r>
          </a:p>
          <a:p>
            <a:br>
              <a:rPr lang="zh-TW" altLang="en-US" dirty="0"/>
            </a:br>
            <a:endParaRPr lang="zh-TW" altLang="en-US" dirty="0"/>
          </a:p>
          <a:p>
            <a:r>
              <a:rPr lang="zh-TW" altLang="en-US" b="1" dirty="0"/>
              <a:t>💡 給簡報的小建議</a:t>
            </a:r>
          </a:p>
          <a:p>
            <a:r>
              <a:rPr lang="zh-TW" altLang="en-US" dirty="0"/>
              <a:t>在簡報這部分時，你可以放一張 </a:t>
            </a:r>
            <a:r>
              <a:rPr lang="zh-TW" altLang="en-US" b="1" dirty="0"/>
              <a:t>「清洗前 </a:t>
            </a:r>
            <a:r>
              <a:rPr lang="en-US" altLang="zh-TW" b="1" dirty="0"/>
              <a:t>(Before) vs. </a:t>
            </a:r>
            <a:r>
              <a:rPr lang="zh-TW" altLang="en-US" b="1" dirty="0"/>
              <a:t>清洗後 </a:t>
            </a:r>
            <a:r>
              <a:rPr lang="en-US" altLang="zh-TW" b="1" dirty="0"/>
              <a:t>(After)</a:t>
            </a:r>
            <a:r>
              <a:rPr lang="zh-TW" altLang="en-US" b="1" dirty="0"/>
              <a:t>」</a:t>
            </a:r>
            <a:r>
              <a:rPr lang="zh-TW" altLang="en-US" dirty="0"/>
              <a:t> 的截圖對比。</a:t>
            </a:r>
          </a:p>
          <a:p>
            <a:r>
              <a:rPr lang="en-US" altLang="zh-TW" b="1" dirty="0"/>
              <a:t>Before:</a:t>
            </a:r>
            <a:r>
              <a:rPr lang="zh-TW" altLang="en-US" dirty="0"/>
              <a:t> 密密麻麻、看不到盡頭的 </a:t>
            </a:r>
            <a:r>
              <a:rPr lang="en-US" altLang="zh-TW" dirty="0"/>
              <a:t>Excel </a:t>
            </a:r>
            <a:r>
              <a:rPr lang="zh-TW" altLang="en-US" dirty="0"/>
              <a:t>欄位。</a:t>
            </a:r>
          </a:p>
          <a:p>
            <a:r>
              <a:rPr lang="en-US" altLang="zh-TW" b="1" dirty="0"/>
              <a:t>After:</a:t>
            </a:r>
            <a:r>
              <a:rPr lang="zh-TW" altLang="en-US" dirty="0"/>
              <a:t> 簡潔、具有「大類</a:t>
            </a:r>
            <a:r>
              <a:rPr lang="en-US" altLang="zh-TW" dirty="0"/>
              <a:t>/</a:t>
            </a:r>
            <a:r>
              <a:rPr lang="zh-TW" altLang="en-US" dirty="0"/>
              <a:t>主體</a:t>
            </a:r>
            <a:r>
              <a:rPr lang="en-US" altLang="zh-TW" dirty="0"/>
              <a:t>/</a:t>
            </a:r>
            <a:r>
              <a:rPr lang="zh-TW" altLang="en-US" dirty="0"/>
              <a:t>潔淨」標籤的結構化表格。 這能讓評審或主管立刻看出你的 </a:t>
            </a:r>
            <a:r>
              <a:rPr lang="en-US" altLang="zh-TW" b="1" dirty="0"/>
              <a:t>Data Sense (</a:t>
            </a:r>
            <a:r>
              <a:rPr lang="zh-TW" altLang="en-US" b="1" dirty="0"/>
              <a:t>資料感</a:t>
            </a:r>
            <a:r>
              <a:rPr lang="en-US" altLang="zh-TW" b="1" dirty="0"/>
              <a:t>)</a:t>
            </a:r>
            <a:r>
              <a:rPr lang="zh-TW" altLang="en-US" dirty="0"/>
              <a:t>。</a:t>
            </a:r>
          </a:p>
          <a:p>
            <a:r>
              <a:rPr lang="zh-TW" altLang="en-US" b="1" dirty="0"/>
              <a:t>既然 </a:t>
            </a:r>
            <a:r>
              <a:rPr lang="en-US" altLang="zh-TW" b="1" dirty="0"/>
              <a:t>ETL Summary </a:t>
            </a:r>
            <a:r>
              <a:rPr lang="zh-TW" altLang="en-US" b="1" dirty="0"/>
              <a:t>做好了，需要我幫你擬一份這份專題簡報的「大綱與目錄」嗎？幫你把分析發現串成一個有溫度的故事。</a:t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895709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43A1D4-1F22-0E32-9B64-AD1583DFC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39686E7-8DAA-2821-8CE5-DDC316FA8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7AEF719-94EA-D524-FCCC-04205D3EB30D}"/>
              </a:ext>
            </a:extLst>
          </p:cNvPr>
          <p:cNvSpPr txBox="1"/>
          <p:nvPr/>
        </p:nvSpPr>
        <p:spPr>
          <a:xfrm>
            <a:off x="3048000" y="-3262682"/>
            <a:ext cx="6096000" cy="13388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en-US" b="1" dirty="0"/>
              <a:t>📊 專題資料處理與清洗技術紀錄 </a:t>
            </a:r>
            <a:r>
              <a:rPr lang="en-US" altLang="zh-TW" b="1" dirty="0"/>
              <a:t>(ETL Summary)</a:t>
            </a:r>
          </a:p>
          <a:p>
            <a:pPr>
              <a:buNone/>
            </a:pPr>
            <a:r>
              <a:rPr lang="zh-TW" altLang="en-US" b="1" dirty="0"/>
              <a:t>階段一：原始資料檢視 </a:t>
            </a:r>
            <a:r>
              <a:rPr lang="en-US" altLang="zh-TW" b="1" dirty="0"/>
              <a:t>(Data Assessment)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資料特徵：</a:t>
            </a:r>
            <a:r>
              <a:rPr lang="zh-TW" altLang="en-US" dirty="0"/>
              <a:t> 涵蓋 </a:t>
            </a:r>
            <a:r>
              <a:rPr lang="en-US" altLang="zh-TW" dirty="0"/>
              <a:t>2007 </a:t>
            </a:r>
            <a:r>
              <a:rPr lang="zh-TW" altLang="en-US" dirty="0"/>
              <a:t>年至 </a:t>
            </a:r>
            <a:r>
              <a:rPr lang="en-US" altLang="zh-TW" dirty="0"/>
              <a:t>2026 </a:t>
            </a:r>
            <a:r>
              <a:rPr lang="zh-TW" altLang="en-US" dirty="0"/>
              <a:t>年（預估）之台灣逐月發電量，欄位多達 </a:t>
            </a:r>
            <a:r>
              <a:rPr lang="en-US" altLang="zh-TW" dirty="0"/>
              <a:t>50 </a:t>
            </a:r>
            <a:r>
              <a:rPr lang="zh-TW" altLang="en-US" dirty="0"/>
              <a:t>餘項。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原始挑戰：</a:t>
            </a:r>
            <a:r>
              <a:rPr lang="zh-TW" altLang="en-US" dirty="0"/>
              <a:t> * </a:t>
            </a:r>
            <a:r>
              <a:rPr lang="zh-TW" altLang="en-US" b="1" dirty="0"/>
              <a:t>寬表困境 </a:t>
            </a:r>
            <a:r>
              <a:rPr lang="en-US" altLang="zh-TW" b="1" dirty="0"/>
              <a:t>(Wide Format)</a:t>
            </a:r>
            <a:r>
              <a:rPr lang="zh-TW" altLang="en-US" b="1" dirty="0"/>
              <a:t>：</a:t>
            </a:r>
            <a:r>
              <a:rPr lang="zh-TW" altLang="en-US" dirty="0"/>
              <a:t> 經營主體（台電</a:t>
            </a:r>
            <a:r>
              <a:rPr lang="en-US" altLang="zh-TW" dirty="0"/>
              <a:t>/</a:t>
            </a:r>
            <a:r>
              <a:rPr lang="zh-TW" altLang="en-US" dirty="0"/>
              <a:t>民營</a:t>
            </a:r>
            <a:r>
              <a:rPr lang="en-US" altLang="zh-TW" dirty="0"/>
              <a:t>/</a:t>
            </a:r>
            <a:r>
              <a:rPr lang="zh-TW" altLang="en-US" dirty="0"/>
              <a:t>自用）與能源細項全擠在欄位名稱中，無法進行動態分類。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b="1" dirty="0"/>
              <a:t>命名雜訊：</a:t>
            </a:r>
            <a:r>
              <a:rPr lang="zh-TW" altLang="en-US" dirty="0"/>
              <a:t> 欄位標題帶有 </a:t>
            </a:r>
            <a:r>
              <a:rPr lang="en-US" altLang="zh-TW" dirty="0">
                <a:latin typeface="Courier New" panose="02070309020205020404" pitchFamily="49" charset="0"/>
              </a:rPr>
              <a:t>(</a:t>
            </a:r>
            <a:r>
              <a:rPr lang="zh-TW" altLang="en-US" dirty="0">
                <a:latin typeface="Courier New" panose="02070309020205020404" pitchFamily="49" charset="0"/>
              </a:rPr>
              <a:t>數值</a:t>
            </a:r>
            <a:r>
              <a:rPr lang="en-US" altLang="zh-TW" dirty="0">
                <a:latin typeface="Courier New" panose="02070309020205020404" pitchFamily="49" charset="0"/>
              </a:rPr>
              <a:t>)</a:t>
            </a:r>
            <a:r>
              <a:rPr lang="zh-TW" altLang="en-US" dirty="0"/>
              <a:t> 或 </a:t>
            </a:r>
            <a:r>
              <a:rPr lang="en-US" altLang="zh-TW" dirty="0">
                <a:latin typeface="Courier New" panose="02070309020205020404" pitchFamily="49" charset="0"/>
              </a:rPr>
              <a:t>_</a:t>
            </a:r>
            <a:r>
              <a:rPr lang="zh-TW" altLang="en-US" dirty="0">
                <a:latin typeface="Courier New" panose="02070309020205020404" pitchFamily="49" charset="0"/>
              </a:rPr>
              <a:t>全國</a:t>
            </a:r>
            <a:r>
              <a:rPr lang="zh-TW" altLang="en-US" dirty="0"/>
              <a:t> 等非結構化贅字。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b="1" dirty="0"/>
              <a:t>重複計算風險：</a:t>
            </a:r>
            <a:r>
              <a:rPr lang="zh-TW" altLang="en-US" dirty="0"/>
              <a:t> 原始表包含「全國總量」與「各主體細項」，若不處理會造成數據加倍。</a:t>
            </a:r>
          </a:p>
          <a:p>
            <a:pPr>
              <a:buNone/>
            </a:pPr>
            <a:r>
              <a:rPr lang="zh-TW" altLang="en-US" b="1" dirty="0"/>
              <a:t>階段二：核心 </a:t>
            </a:r>
            <a:r>
              <a:rPr lang="en-US" altLang="zh-TW" b="1" dirty="0"/>
              <a:t>ETL </a:t>
            </a:r>
            <a:r>
              <a:rPr lang="zh-TW" altLang="en-US" b="1" dirty="0"/>
              <a:t>清洗流程 </a:t>
            </a:r>
            <a:r>
              <a:rPr lang="en-US" altLang="zh-TW" b="1" dirty="0"/>
              <a:t>(The Transformation)</a:t>
            </a:r>
          </a:p>
          <a:p>
            <a:pPr>
              <a:buNone/>
            </a:pPr>
            <a:r>
              <a:rPr lang="zh-TW" altLang="en-US" dirty="0"/>
              <a:t>在 </a:t>
            </a:r>
            <a:r>
              <a:rPr lang="en-US" altLang="zh-TW" dirty="0"/>
              <a:t>Power BI </a:t>
            </a:r>
            <a:r>
              <a:rPr lang="zh-TW" altLang="en-US" dirty="0"/>
              <a:t>的 </a:t>
            </a:r>
            <a:r>
              <a:rPr lang="en-US" altLang="zh-TW" dirty="0"/>
              <a:t>Power Query </a:t>
            </a:r>
            <a:r>
              <a:rPr lang="zh-TW" altLang="en-US" dirty="0"/>
              <a:t>環境中，我們執行了以下關鍵轉換：</a:t>
            </a:r>
          </a:p>
          <a:p>
            <a:pPr>
              <a:buFont typeface="+mj-lt"/>
              <a:buAutoNum type="arabicPeriod"/>
            </a:pPr>
            <a:r>
              <a:rPr lang="zh-TW" altLang="en-US" b="1" dirty="0"/>
              <a:t>取消樞紐 </a:t>
            </a:r>
            <a:r>
              <a:rPr lang="en-US" altLang="zh-TW" b="1" dirty="0"/>
              <a:t>(Unpivot Columns)</a:t>
            </a:r>
            <a:r>
              <a:rPr lang="zh-TW" altLang="en-US" b="1" dirty="0"/>
              <a:t>：</a:t>
            </a:r>
            <a:r>
              <a:rPr lang="zh-TW" altLang="en-US" dirty="0"/>
              <a:t> 將 </a:t>
            </a:r>
            <a:r>
              <a:rPr lang="en-US" altLang="zh-TW" dirty="0"/>
              <a:t>50 </a:t>
            </a:r>
            <a:r>
              <a:rPr lang="zh-TW" altLang="en-US" dirty="0"/>
              <a:t>幾個橫向欄位轉化為縱向的 </a:t>
            </a:r>
            <a:r>
              <a:rPr lang="zh-TW" altLang="en-US" b="1" dirty="0"/>
              <a:t>「多列 </a:t>
            </a:r>
            <a:r>
              <a:rPr lang="en-US" altLang="zh-TW" b="1" dirty="0"/>
              <a:t>(Rows) </a:t>
            </a:r>
            <a:r>
              <a:rPr lang="zh-TW" altLang="en-US" b="1" dirty="0"/>
              <a:t>結構」</a:t>
            </a:r>
            <a:r>
              <a:rPr lang="zh-TW" altLang="en-US" dirty="0"/>
              <a:t>，讓每一筆數據都配備一組屬性標籤。</a:t>
            </a:r>
          </a:p>
          <a:p>
            <a:pPr>
              <a:buFont typeface="+mj-lt"/>
              <a:buAutoNum type="arabicPeriod"/>
            </a:pPr>
            <a:r>
              <a:rPr lang="zh-TW" altLang="en-US" b="1" dirty="0"/>
              <a:t>階層式拆分 </a:t>
            </a:r>
            <a:r>
              <a:rPr lang="en-US" altLang="zh-TW" b="1" dirty="0"/>
              <a:t>(Split by Delimiter)</a:t>
            </a:r>
            <a:r>
              <a:rPr lang="zh-TW" altLang="en-US" b="1" dirty="0"/>
              <a:t>：</a:t>
            </a:r>
            <a:r>
              <a:rPr lang="zh-TW" altLang="en-US" dirty="0"/>
              <a:t> 利用底線 </a:t>
            </a:r>
            <a:r>
              <a:rPr lang="en-US" altLang="zh-TW" dirty="0">
                <a:latin typeface="Courier New" panose="02070309020205020404" pitchFamily="49" charset="0"/>
              </a:rPr>
              <a:t>_</a:t>
            </a:r>
            <a:r>
              <a:rPr lang="zh-TW" altLang="en-US" dirty="0"/>
              <a:t> 將屬性拆解為三個核心維度：</a:t>
            </a:r>
            <a:r>
              <a:rPr lang="en-US" altLang="zh-TW" b="1" dirty="0"/>
              <a:t>[</a:t>
            </a:r>
            <a:r>
              <a:rPr lang="zh-TW" altLang="en-US" b="1" dirty="0"/>
              <a:t>經營主體</a:t>
            </a:r>
            <a:r>
              <a:rPr lang="en-US" altLang="zh-TW" b="1" dirty="0"/>
              <a:t>]</a:t>
            </a:r>
            <a:r>
              <a:rPr lang="zh-TW" altLang="en-US" b="1" dirty="0"/>
              <a:t>、</a:t>
            </a:r>
            <a:r>
              <a:rPr lang="en-US" altLang="zh-TW" b="1" dirty="0"/>
              <a:t>[</a:t>
            </a:r>
            <a:r>
              <a:rPr lang="zh-TW" altLang="en-US" b="1" dirty="0"/>
              <a:t>能源大類</a:t>
            </a:r>
            <a:r>
              <a:rPr lang="en-US" altLang="zh-TW" b="1" dirty="0"/>
              <a:t>]</a:t>
            </a:r>
            <a:r>
              <a:rPr lang="zh-TW" altLang="en-US" b="1" dirty="0"/>
              <a:t>、</a:t>
            </a:r>
            <a:r>
              <a:rPr lang="en-US" altLang="zh-TW" b="1" dirty="0"/>
              <a:t>[</a:t>
            </a:r>
            <a:r>
              <a:rPr lang="zh-TW" altLang="en-US" b="1" dirty="0"/>
              <a:t>能源細項</a:t>
            </a:r>
            <a:r>
              <a:rPr lang="en-US" altLang="zh-TW" b="1" dirty="0"/>
              <a:t>]</a:t>
            </a:r>
            <a:r>
              <a:rPr lang="zh-TW" altLang="en-US" dirty="0"/>
              <a:t>。</a:t>
            </a:r>
          </a:p>
          <a:p>
            <a:pPr>
              <a:buFont typeface="+mj-lt"/>
              <a:buAutoNum type="arabicPeriod"/>
            </a:pPr>
            <a:r>
              <a:rPr lang="zh-TW" altLang="en-US" b="1" dirty="0"/>
              <a:t>精準清理 </a:t>
            </a:r>
            <a:r>
              <a:rPr lang="en-US" altLang="zh-TW" b="1" dirty="0"/>
              <a:t>(Data Cleansing)</a:t>
            </a:r>
            <a:r>
              <a:rPr lang="zh-TW" altLang="en-US" b="1" dirty="0"/>
              <a:t>：</a:t>
            </a:r>
            <a:r>
              <a:rPr lang="zh-TW" altLang="en-US" dirty="0"/>
              <a:t> * 批次移除 </a:t>
            </a:r>
            <a:r>
              <a:rPr lang="en-US" altLang="zh-TW" dirty="0">
                <a:latin typeface="Courier New" panose="02070309020205020404" pitchFamily="49" charset="0"/>
              </a:rPr>
              <a:t>(</a:t>
            </a:r>
            <a:r>
              <a:rPr lang="zh-TW" altLang="en-US" dirty="0">
                <a:latin typeface="Courier New" panose="02070309020205020404" pitchFamily="49" charset="0"/>
              </a:rPr>
              <a:t>數值</a:t>
            </a:r>
            <a:r>
              <a:rPr lang="en-US" altLang="zh-TW" dirty="0">
                <a:latin typeface="Courier New" panose="02070309020205020404" pitchFamily="49" charset="0"/>
              </a:rPr>
              <a:t>)</a:t>
            </a:r>
            <a:r>
              <a:rPr lang="zh-TW" altLang="en-US" dirty="0"/>
              <a:t> 與 </a:t>
            </a:r>
            <a:r>
              <a:rPr lang="en-US" altLang="zh-TW" dirty="0">
                <a:latin typeface="Courier New" panose="02070309020205020404" pitchFamily="49" charset="0"/>
              </a:rPr>
              <a:t>_</a:t>
            </a:r>
            <a:r>
              <a:rPr lang="zh-TW" altLang="en-US" dirty="0">
                <a:latin typeface="Courier New" panose="02070309020205020404" pitchFamily="49" charset="0"/>
              </a:rPr>
              <a:t>全國</a:t>
            </a:r>
            <a:r>
              <a:rPr lang="zh-TW" altLang="en-US" dirty="0"/>
              <a:t> 字眼。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TW" altLang="en-US" dirty="0"/>
              <a:t>執行 </a:t>
            </a:r>
            <a:r>
              <a:rPr lang="zh-TW" altLang="en-US" b="1" dirty="0"/>
              <a:t>修剪 </a:t>
            </a:r>
            <a:r>
              <a:rPr lang="en-US" altLang="zh-TW" b="1" dirty="0"/>
              <a:t>(Trim)</a:t>
            </a:r>
            <a:r>
              <a:rPr lang="zh-TW" altLang="en-US" dirty="0"/>
              <a:t> 與 </a:t>
            </a:r>
            <a:r>
              <a:rPr lang="zh-TW" altLang="en-US" b="1" dirty="0"/>
              <a:t>清除 </a:t>
            </a:r>
            <a:r>
              <a:rPr lang="en-US" altLang="zh-TW" b="1" dirty="0"/>
              <a:t>(Clean)</a:t>
            </a:r>
            <a:r>
              <a:rPr lang="zh-TW" altLang="en-US" dirty="0"/>
              <a:t>，排除看不見的空白字元，確保資料比對 </a:t>
            </a:r>
            <a:r>
              <a:rPr lang="en-US" altLang="zh-TW" dirty="0"/>
              <a:t>100% </a:t>
            </a:r>
            <a:r>
              <a:rPr lang="zh-TW" altLang="en-US" dirty="0"/>
              <a:t>精確。</a:t>
            </a:r>
          </a:p>
          <a:p>
            <a:pPr>
              <a:buFont typeface="+mj-lt"/>
              <a:buAutoNum type="arabicPeriod"/>
            </a:pPr>
            <a:r>
              <a:rPr lang="zh-TW" altLang="en-US" b="1" dirty="0"/>
              <a:t>條件式校正 </a:t>
            </a:r>
            <a:r>
              <a:rPr lang="en-US" altLang="zh-TW" b="1" dirty="0"/>
              <a:t>(Conditional Alignment)</a:t>
            </a:r>
            <a:r>
              <a:rPr lang="zh-TW" altLang="en-US" b="1" dirty="0"/>
              <a:t>：</a:t>
            </a:r>
            <a:r>
              <a:rPr lang="zh-TW" altLang="en-US" dirty="0"/>
              <a:t> 針對核能等不對稱層級（只有兩層），利用「條件式資料行」實施 </a:t>
            </a:r>
            <a:r>
              <a:rPr lang="zh-TW" altLang="en-US" b="1" dirty="0"/>
              <a:t>「向左填補邏輯」</a:t>
            </a:r>
            <a:r>
              <a:rPr lang="zh-TW" altLang="en-US" dirty="0"/>
              <a:t>，確保所有標籤對齊。</a:t>
            </a:r>
          </a:p>
          <a:p>
            <a:pPr>
              <a:buNone/>
            </a:pPr>
            <a:r>
              <a:rPr lang="zh-TW" altLang="en-US" b="1" dirty="0"/>
              <a:t>階段三：特徵工程與價值定義 </a:t>
            </a:r>
            <a:r>
              <a:rPr lang="en-US" altLang="zh-TW" b="1" dirty="0"/>
              <a:t>(Feature Engineering)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新增「潔淨能源」判定欄位：</a:t>
            </a:r>
            <a:r>
              <a:rPr lang="zh-TW" altLang="en-US" dirty="0"/>
              <a:t> * </a:t>
            </a:r>
            <a:r>
              <a:rPr lang="zh-TW" altLang="en-US" b="1" dirty="0"/>
              <a:t>邏輯定義：</a:t>
            </a:r>
            <a:r>
              <a:rPr lang="zh-TW" altLang="en-US" dirty="0"/>
              <a:t> 將 </a:t>
            </a:r>
            <a:r>
              <a:rPr lang="zh-TW" altLang="en-US" dirty="0">
                <a:latin typeface="Courier New" panose="02070309020205020404" pitchFamily="49" charset="0"/>
              </a:rPr>
              <a:t>再生能源</a:t>
            </a:r>
            <a:r>
              <a:rPr lang="zh-TW" altLang="en-US" dirty="0"/>
              <a:t> 與 </a:t>
            </a:r>
            <a:r>
              <a:rPr lang="zh-TW" altLang="en-US" dirty="0">
                <a:latin typeface="Courier New" panose="02070309020205020404" pitchFamily="49" charset="0"/>
              </a:rPr>
              <a:t>核能</a:t>
            </a:r>
            <a:r>
              <a:rPr lang="zh-TW" altLang="en-US" dirty="0"/>
              <a:t> 統一標註為 </a:t>
            </a:r>
            <a:r>
              <a:rPr lang="zh-TW" altLang="en-US" b="1" dirty="0"/>
              <a:t>「潔淨能源」</a:t>
            </a:r>
            <a:r>
              <a:rPr lang="zh-TW" altLang="en-US" dirty="0"/>
              <a:t>，其餘標註為 </a:t>
            </a:r>
            <a:r>
              <a:rPr lang="zh-TW" altLang="en-US" b="1" dirty="0"/>
              <a:t>「傳統火力」</a:t>
            </a:r>
            <a:r>
              <a:rPr lang="zh-TW" altLang="en-US" dirty="0"/>
              <a:t>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b="1" dirty="0"/>
              <a:t>特殊處理：</a:t>
            </a:r>
            <a:r>
              <a:rPr lang="zh-TW" altLang="en-US" dirty="0"/>
              <a:t> 將 </a:t>
            </a:r>
            <a:r>
              <a:rPr lang="zh-TW" altLang="en-US" b="1" dirty="0"/>
              <a:t>「抽蓄水力」</a:t>
            </a:r>
            <a:r>
              <a:rPr lang="zh-TW" altLang="en-US" dirty="0"/>
              <a:t> 納入標籤，作為儲能調度的觀測指標。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1" dirty="0"/>
              <a:t>DAX </a:t>
            </a:r>
            <a:r>
              <a:rPr lang="zh-TW" altLang="en-US" b="1" dirty="0"/>
              <a:t>建模：</a:t>
            </a:r>
            <a:r>
              <a:rPr lang="zh-TW" altLang="en-US" dirty="0"/>
              <a:t> 撰寫動態量值 </a:t>
            </a:r>
            <a:r>
              <a:rPr lang="en-US" altLang="zh-TW" dirty="0"/>
              <a:t>(Measures)</a:t>
            </a:r>
            <a:r>
              <a:rPr lang="zh-TW" altLang="en-US" dirty="0"/>
              <a:t>，即時計算 </a:t>
            </a:r>
            <a:r>
              <a:rPr lang="zh-TW" altLang="en-US" b="1" dirty="0"/>
              <a:t>「潔淨能源佔比 </a:t>
            </a:r>
            <a:r>
              <a:rPr lang="en-US" altLang="zh-TW" b="1" dirty="0"/>
              <a:t>%</a:t>
            </a:r>
            <a:r>
              <a:rPr lang="zh-TW" altLang="en-US" b="1" dirty="0"/>
              <a:t>」</a:t>
            </a:r>
            <a:r>
              <a:rPr lang="zh-TW" altLang="en-US" dirty="0"/>
              <a:t>。</a:t>
            </a:r>
          </a:p>
          <a:p>
            <a:pPr>
              <a:buNone/>
            </a:pPr>
            <a:r>
              <a:rPr lang="zh-TW" altLang="en-US" b="1" dirty="0"/>
              <a:t>階段四：專題分析發現預告 </a:t>
            </a:r>
            <a:r>
              <a:rPr lang="en-US" altLang="zh-TW" b="1" dirty="0"/>
              <a:t>(Analytical Insights)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結構交叉分析 </a:t>
            </a:r>
            <a:r>
              <a:rPr lang="en-US" altLang="zh-TW" b="1" dirty="0"/>
              <a:t>(</a:t>
            </a:r>
            <a:r>
              <a:rPr lang="zh-TW" altLang="en-US" b="1" dirty="0"/>
              <a:t>方向四</a:t>
            </a:r>
            <a:r>
              <a:rPr lang="en-US" altLang="zh-TW" b="1" dirty="0"/>
              <a:t>)</a:t>
            </a:r>
            <a:r>
              <a:rPr lang="zh-TW" altLang="en-US" b="1" dirty="0"/>
              <a:t>：</a:t>
            </a:r>
            <a:r>
              <a:rPr lang="zh-TW" altLang="en-US" dirty="0"/>
              <a:t> 成功鎖定再生能源超越核能的歷史「黃金交叉點」。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主體動能對比 </a:t>
            </a:r>
            <a:r>
              <a:rPr lang="en-US" altLang="zh-TW" b="1" dirty="0"/>
              <a:t>(</a:t>
            </a:r>
            <a:r>
              <a:rPr lang="zh-TW" altLang="en-US" b="1" dirty="0"/>
              <a:t>方向三</a:t>
            </a:r>
            <a:r>
              <a:rPr lang="en-US" altLang="zh-TW" b="1" dirty="0"/>
              <a:t>)</a:t>
            </a:r>
            <a:r>
              <a:rPr lang="zh-TW" altLang="en-US" b="1" dirty="0"/>
              <a:t>：</a:t>
            </a:r>
            <a:r>
              <a:rPr lang="zh-TW" altLang="en-US" dirty="0"/>
              <a:t> 實證 </a:t>
            </a:r>
            <a:r>
              <a:rPr lang="zh-TW" altLang="en-US" b="1" dirty="0"/>
              <a:t>「自用發電設備」</a:t>
            </a:r>
            <a:r>
              <a:rPr lang="zh-TW" altLang="en-US" dirty="0"/>
              <a:t> 在潔淨能源佔比的成長率遠高於國營電廠，反映企業 </a:t>
            </a:r>
            <a:r>
              <a:rPr lang="en-US" altLang="zh-TW" dirty="0"/>
              <a:t>ESG </a:t>
            </a:r>
            <a:r>
              <a:rPr lang="zh-TW" altLang="en-US" dirty="0"/>
              <a:t>的強勁拉動力。</a:t>
            </a:r>
          </a:p>
          <a:p>
            <a:pPr>
              <a:buNone/>
            </a:pPr>
            <a:br>
              <a:rPr lang="zh-TW" altLang="en-US" dirty="0"/>
            </a:br>
            <a:endParaRPr lang="zh-TW" altLang="en-US" dirty="0"/>
          </a:p>
          <a:p>
            <a:pPr>
              <a:buNone/>
            </a:pPr>
            <a:r>
              <a:rPr lang="zh-TW" altLang="en-US" b="1" dirty="0"/>
              <a:t>💡 簡報呈現小秘訣</a:t>
            </a:r>
          </a:p>
          <a:p>
            <a:pPr>
              <a:buFont typeface="+mj-lt"/>
              <a:buAutoNum type="arabicPeriod"/>
            </a:pPr>
            <a:r>
              <a:rPr lang="zh-TW" altLang="en-US" b="1" dirty="0"/>
              <a:t>放一張 </a:t>
            </a:r>
            <a:r>
              <a:rPr lang="en-US" altLang="zh-TW" b="1" dirty="0"/>
              <a:t>Before/After </a:t>
            </a:r>
            <a:r>
              <a:rPr lang="zh-TW" altLang="en-US" b="1" dirty="0"/>
              <a:t>圖：</a:t>
            </a:r>
            <a:r>
              <a:rPr lang="zh-TW" altLang="en-US" dirty="0"/>
              <a:t> 左邊放雜亂的 </a:t>
            </a:r>
            <a:r>
              <a:rPr lang="en-US" altLang="zh-TW" dirty="0"/>
              <a:t>Excel </a:t>
            </a:r>
            <a:r>
              <a:rPr lang="zh-TW" altLang="en-US" dirty="0"/>
              <a:t>原始截圖，右邊放你整理好的漂亮長表。</a:t>
            </a:r>
          </a:p>
          <a:p>
            <a:pPr>
              <a:buFont typeface="+mj-lt"/>
              <a:buAutoNum type="arabicPeriod"/>
            </a:pPr>
            <a:r>
              <a:rPr lang="zh-TW" altLang="en-US" b="1" dirty="0"/>
              <a:t>強調「自動化」：</a:t>
            </a:r>
            <a:r>
              <a:rPr lang="zh-TW" altLang="en-US" dirty="0"/>
              <a:t> 提到這套 </a:t>
            </a:r>
            <a:r>
              <a:rPr lang="en-US" altLang="zh-TW" dirty="0"/>
              <a:t>ETL </a:t>
            </a:r>
            <a:r>
              <a:rPr lang="zh-TW" altLang="en-US" dirty="0"/>
              <a:t>流程未來只要「點擊重新整理」，就能自動處理 </a:t>
            </a:r>
            <a:r>
              <a:rPr lang="en-US" altLang="zh-TW" dirty="0"/>
              <a:t>2026 </a:t>
            </a:r>
            <a:r>
              <a:rPr lang="zh-TW" altLang="en-US" dirty="0"/>
              <a:t>年以後的新數據，這展現了你的</a:t>
            </a:r>
            <a:r>
              <a:rPr lang="zh-TW" altLang="en-US" b="1" dirty="0"/>
              <a:t>工程思維</a:t>
            </a:r>
            <a:r>
              <a:rPr lang="zh-TW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22673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12A99B-5995-015E-CA3A-30F5F5478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DBEED38-26D9-8059-695A-D2CF7E1B8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zh-TW" altLang="en-US" b="1" dirty="0"/>
              <a:t>簡報結語與建議 </a:t>
            </a:r>
            <a:r>
              <a:rPr lang="en-US" altLang="zh-TW" b="1" dirty="0"/>
              <a:t>(Conclusion &amp; Call to Action)</a:t>
            </a:r>
          </a:p>
          <a:p>
            <a:r>
              <a:rPr lang="en-US" altLang="zh-TW" b="1" dirty="0"/>
              <a:t>1. </a:t>
            </a:r>
            <a:r>
              <a:rPr lang="zh-TW" altLang="en-US" b="1" dirty="0"/>
              <a:t>核心洞察：能源民主化與企業動能</a:t>
            </a:r>
          </a:p>
          <a:p>
            <a:r>
              <a:rPr lang="zh-TW" altLang="en-US" b="1" dirty="0"/>
              <a:t>數據實證：</a:t>
            </a:r>
            <a:r>
              <a:rPr lang="zh-TW" altLang="en-US" dirty="0"/>
              <a:t> 透過 </a:t>
            </a:r>
            <a:r>
              <a:rPr lang="en-US" altLang="zh-TW" dirty="0"/>
              <a:t>Power BI </a:t>
            </a:r>
            <a:r>
              <a:rPr lang="zh-TW" altLang="en-US" dirty="0"/>
              <a:t>的主體分析，我們發現「自用發電設備」的潔淨能源成長率顯著高於傳統電廠。</a:t>
            </a:r>
          </a:p>
          <a:p>
            <a:r>
              <a:rPr lang="zh-TW" altLang="en-US" b="1" dirty="0"/>
              <a:t>洞察：</a:t>
            </a:r>
            <a:r>
              <a:rPr lang="zh-TW" altLang="en-US" dirty="0"/>
              <a:t> 台灣的能源轉型已從「政策驅動」轉向「產業驅動」。企業（如半導體產業）為了符合國際 </a:t>
            </a:r>
            <a:r>
              <a:rPr lang="en-US" altLang="zh-TW" dirty="0"/>
              <a:t>ESG </a:t>
            </a:r>
            <a:r>
              <a:rPr lang="zh-TW" altLang="en-US" dirty="0"/>
              <a:t>與 </a:t>
            </a:r>
            <a:r>
              <a:rPr lang="en-US" altLang="zh-TW" dirty="0"/>
              <a:t>RE100 </a:t>
            </a:r>
            <a:r>
              <a:rPr lang="zh-TW" altLang="en-US" dirty="0"/>
              <a:t>規範，已成為綠能發展的最強引擎。</a:t>
            </a:r>
          </a:p>
          <a:p>
            <a:r>
              <a:rPr lang="en-US" altLang="zh-TW" b="1" dirty="0"/>
              <a:t>2. </a:t>
            </a:r>
            <a:r>
              <a:rPr lang="zh-TW" altLang="en-US" b="1" dirty="0"/>
              <a:t>預測趨勢：黃金交叉後的穩定性挑戰</a:t>
            </a:r>
          </a:p>
          <a:p>
            <a:r>
              <a:rPr lang="zh-TW" altLang="en-US" b="1" dirty="0"/>
              <a:t>數據趨勢：</a:t>
            </a:r>
            <a:r>
              <a:rPr lang="zh-TW" altLang="en-US" dirty="0"/>
              <a:t> </a:t>
            </a:r>
            <a:r>
              <a:rPr lang="en-US" altLang="zh-TW" dirty="0"/>
              <a:t>2026 </a:t>
            </a:r>
            <a:r>
              <a:rPr lang="zh-TW" altLang="en-US" dirty="0"/>
              <a:t>年再生能源佔比正式銜接核能退場。</a:t>
            </a:r>
          </a:p>
          <a:p>
            <a:r>
              <a:rPr lang="zh-TW" altLang="en-US" b="1" dirty="0"/>
              <a:t>建議：</a:t>
            </a:r>
            <a:r>
              <a:rPr lang="zh-TW" altLang="en-US" dirty="0"/>
              <a:t> 隨著潔淨能源（特別是變動性高的光電與風電）佔比提升，「抽蓄水力」與「民間儲能系統」的調度數據將成為下一階段電網韌性的關鍵指標。</a:t>
            </a:r>
          </a:p>
          <a:p>
            <a:r>
              <a:rPr lang="en-US" altLang="zh-TW" b="1" dirty="0"/>
              <a:t>3. </a:t>
            </a:r>
            <a:r>
              <a:rPr lang="zh-TW" altLang="en-US" b="1" dirty="0"/>
              <a:t>技術價值：自動化監測管線 </a:t>
            </a:r>
            <a:r>
              <a:rPr lang="en-US" altLang="zh-TW" b="1" dirty="0"/>
              <a:t>(The Scalable Solution)</a:t>
            </a:r>
          </a:p>
          <a:p>
            <a:r>
              <a:rPr lang="zh-TW" altLang="en-US" b="1" dirty="0"/>
              <a:t>專案成果：</a:t>
            </a:r>
            <a:r>
              <a:rPr lang="zh-TW" altLang="en-US" dirty="0"/>
              <a:t> 本專案建立的 </a:t>
            </a:r>
            <a:r>
              <a:rPr lang="en-US" altLang="zh-TW" b="1" dirty="0"/>
              <a:t>ETL </a:t>
            </a:r>
            <a:r>
              <a:rPr lang="zh-TW" altLang="en-US" b="1" dirty="0"/>
              <a:t>自動化模型</a:t>
            </a:r>
            <a:r>
              <a:rPr lang="zh-TW" altLang="en-US" dirty="0"/>
              <a:t>，解決了長達 </a:t>
            </a:r>
            <a:r>
              <a:rPr lang="en-US" altLang="zh-TW" dirty="0"/>
              <a:t>20 </a:t>
            </a:r>
            <a:r>
              <a:rPr lang="zh-TW" altLang="en-US" dirty="0"/>
              <a:t>年、非對稱層級的複雜電力數據清洗難題。</a:t>
            </a:r>
          </a:p>
          <a:p>
            <a:r>
              <a:rPr lang="zh-TW" altLang="en-US" b="1" dirty="0"/>
              <a:t>擴充性：</a:t>
            </a:r>
            <a:r>
              <a:rPr lang="zh-TW" altLang="en-US" dirty="0"/>
              <a:t> 該模型具備高度擴充性，未來可直接串接台電 </a:t>
            </a:r>
            <a:r>
              <a:rPr lang="en-US" altLang="zh-TW" dirty="0"/>
              <a:t>API </a:t>
            </a:r>
            <a:r>
              <a:rPr lang="zh-TW" altLang="en-US" dirty="0"/>
              <a:t>或台積電等企業電力監測數據，實現即時的能源佔比監控。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587735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E3594B-799E-9DB7-10AF-5F6E79A71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472D245-7BFF-56E4-1E1D-9FE302E3A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b="1" dirty="0"/>
              <a:t>簡報最後一頁的標語 </a:t>
            </a:r>
            <a:r>
              <a:rPr lang="en-US" altLang="zh-TW" b="1" dirty="0"/>
              <a:t>(The Final Quote)</a:t>
            </a:r>
          </a:p>
          <a:p>
            <a:r>
              <a:rPr lang="zh-TW" altLang="en-US" dirty="0"/>
              <a:t>你可以用一句強而有力的話作為 </a:t>
            </a:r>
            <a:r>
              <a:rPr lang="en-US" altLang="zh-TW" dirty="0"/>
              <a:t>Ending</a:t>
            </a:r>
            <a:r>
              <a:rPr lang="zh-TW" altLang="en-US" dirty="0"/>
              <a:t>：</a:t>
            </a:r>
          </a:p>
          <a:p>
            <a:r>
              <a:rPr lang="zh-TW" altLang="en-US" b="1" dirty="0"/>
              <a:t>「數據不只是紀錄過去的產量，更是指引未來能源轉型路徑的導航儀。」</a:t>
            </a:r>
            <a:endParaRPr lang="zh-TW" altLang="en-US" dirty="0"/>
          </a:p>
          <a:p>
            <a:br>
              <a:rPr lang="zh-TW" altLang="en-US" dirty="0"/>
            </a:br>
            <a:endParaRPr lang="zh-TW" altLang="en-US" dirty="0"/>
          </a:p>
          <a:p>
            <a:r>
              <a:rPr lang="zh-TW" altLang="en-US" b="1" dirty="0"/>
              <a:t>🎨 簡報視覺建議 </a:t>
            </a:r>
            <a:r>
              <a:rPr lang="en-US" altLang="zh-TW" b="1" dirty="0"/>
              <a:t>(Visual Tips)</a:t>
            </a:r>
          </a:p>
          <a:p>
            <a:r>
              <a:rPr lang="zh-TW" altLang="en-US" dirty="0"/>
              <a:t>在講這一頁結語時，背景可以放一張你做出來的 </a:t>
            </a:r>
            <a:r>
              <a:rPr lang="zh-TW" altLang="en-US" b="1" dirty="0"/>
              <a:t>「潔淨能源佔比趨勢折線圖」</a:t>
            </a:r>
            <a:r>
              <a:rPr lang="zh-TW" altLang="en-US" dirty="0"/>
              <a:t>，但把透明度調高（變淡），上面疊加這三個結論。這樣會顯得非常專業且具備說服力。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001699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D95F4C-5C96-7068-9455-85D1C0DEC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A9F71E9-4089-B16D-2A35-243D04ACF829}"/>
              </a:ext>
            </a:extLst>
          </p:cNvPr>
          <p:cNvSpPr/>
          <p:nvPr/>
        </p:nvSpPr>
        <p:spPr>
          <a:xfrm>
            <a:off x="2939143" y="2969948"/>
            <a:ext cx="5621867" cy="2709333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27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3480EE8-E653-2F80-6F9E-E434FBCDF1A7}"/>
              </a:ext>
            </a:extLst>
          </p:cNvPr>
          <p:cNvSpPr txBox="1"/>
          <p:nvPr/>
        </p:nvSpPr>
        <p:spPr>
          <a:xfrm>
            <a:off x="3046912" y="2967335"/>
            <a:ext cx="60938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/>
              <a:t>「註：</a:t>
            </a:r>
            <a:r>
              <a:rPr lang="en-US" altLang="zh-TW" dirty="0"/>
              <a:t>2025 </a:t>
            </a:r>
            <a:r>
              <a:rPr lang="zh-TW" altLang="en-US" dirty="0"/>
              <a:t>年數據包含預測與政策目標值。再生能源的顯著增長主要集中於 </a:t>
            </a:r>
            <a:r>
              <a:rPr lang="en-US" altLang="zh-TW" dirty="0"/>
              <a:t>10:00 - 14:00 </a:t>
            </a:r>
            <a:r>
              <a:rPr lang="zh-TW" altLang="en-US" dirty="0"/>
              <a:t>的光電尖峰，有效分擔了傳統機組在夏季高溫下的運轉壓力。</a:t>
            </a:r>
          </a:p>
        </p:txBody>
      </p:sp>
    </p:spTree>
    <p:extLst>
      <p:ext uri="{BB962C8B-B14F-4D97-AF65-F5344CB8AC3E}">
        <p14:creationId xmlns:p14="http://schemas.microsoft.com/office/powerpoint/2010/main" val="3035677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1268</TotalTime>
  <Words>3321</Words>
  <Application>Microsoft Office PowerPoint</Application>
  <PresentationFormat>寬螢幕</PresentationFormat>
  <Paragraphs>166</Paragraphs>
  <Slides>23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29" baseType="lpstr">
      <vt:lpstr>Google Sans Text</vt:lpstr>
      <vt:lpstr>Arial</vt:lpstr>
      <vt:lpstr>Calibri</vt:lpstr>
      <vt:lpstr>Calibri Light</vt:lpstr>
      <vt:lpstr>Courier New</vt:lpstr>
      <vt:lpstr>Office 佈景主題</vt:lpstr>
      <vt:lpstr>《誰在推動綠能？——基於 Power BI 之台灣潔淨能源滲透率與經營主體動能研究》</vt:lpstr>
      <vt:lpstr>專案工時評估表 (Project Man-Hours)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專題資料處理技術報告 (ETL Summary)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Shou-Cheng Hu</dc:creator>
  <cp:lastModifiedBy>HuJohnny</cp:lastModifiedBy>
  <cp:revision>5</cp:revision>
  <dcterms:created xsi:type="dcterms:W3CDTF">2026-03-21T12:56:33Z</dcterms:created>
  <dcterms:modified xsi:type="dcterms:W3CDTF">2026-03-31T08:23:31Z</dcterms:modified>
</cp:coreProperties>
</file>